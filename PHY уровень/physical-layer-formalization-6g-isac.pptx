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36ecbe9baf4caa" /><Relationship Type="http://schemas.openxmlformats.org/officeDocument/2006/relationships/extended-properties" Target="/docProps/app.xml" Id="R932f87d2d8ed4743" /><Relationship Type="http://schemas.openxmlformats.org/officeDocument/2006/relationships/officeDocument" Target="/ppt/presentation.xml" Id="R291c296efb3e4b1e" /></Relationships>
</file>

<file path=ppt/presentation.xml><?xml version="1.0" encoding="utf-8"?>
<p:presentation xmlns:p="http://schemas.openxmlformats.org/presentationml/2006/main">
  <p:sldMasterIdLst>
    <p:sldMasterId xmlns:r="http://schemas.openxmlformats.org/officeDocument/2006/relationships" id="2147483648" r:id="Rfc38f1bd7cb94e36"/>
  </p:sldMasterIdLst>
  <p:notesMasterIdLst>
    <p:notesMasterId xmlns:r="http://schemas.openxmlformats.org/officeDocument/2006/relationships" r:id="R64137215ab284e55"/>
  </p:notesMasterIdLst>
  <p:sldIdLst>
    <p:sldId xmlns:r="http://schemas.openxmlformats.org/officeDocument/2006/relationships" id="256" r:id="R47b1c68b598d48b6"/>
    <p:sldId xmlns:r="http://schemas.openxmlformats.org/officeDocument/2006/relationships" id="257" r:id="R9ee7cabf7bd34d40"/>
    <p:sldId xmlns:r="http://schemas.openxmlformats.org/officeDocument/2006/relationships" id="258" r:id="Red1029421d074841"/>
    <p:sldId xmlns:r="http://schemas.openxmlformats.org/officeDocument/2006/relationships" id="259" r:id="Rd4fbdebcf2c04544"/>
    <p:sldId xmlns:r="http://schemas.openxmlformats.org/officeDocument/2006/relationships" id="260" r:id="R834d21b1011d4466"/>
    <p:sldId xmlns:r="http://schemas.openxmlformats.org/officeDocument/2006/relationships" id="261" r:id="Re1d1db62f3794598"/>
    <p:sldId xmlns:r="http://schemas.openxmlformats.org/officeDocument/2006/relationships" id="262" r:id="R092b19aac2724eec"/>
    <p:sldId xmlns:r="http://schemas.openxmlformats.org/officeDocument/2006/relationships" id="263" r:id="R81dd3646d74c4fcc"/>
    <p:sldId xmlns:r="http://schemas.openxmlformats.org/officeDocument/2006/relationships" id="264" r:id="R8acbd2c87a6c4c6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0037fb48bef4928" /><Relationship Type="http://schemas.openxmlformats.org/officeDocument/2006/relationships/slideMaster" Target="/ppt/slideMasters/slideMaster1.xml" Id="Rfc38f1bd7cb94e36" /><Relationship Type="http://schemas.openxmlformats.org/officeDocument/2006/relationships/notesMaster" Target="/ppt/notesMasters/notesMaster1.xml" Id="R64137215ab284e55" /><Relationship Type="http://schemas.openxmlformats.org/officeDocument/2006/relationships/presProps" Target="/ppt/presProps.xml" Id="R7c462fa4aa2846f1" /><Relationship Type="http://schemas.openxmlformats.org/officeDocument/2006/relationships/viewProps" Target="/ppt/viewProps.xml" Id="R9e2f4f1246aa40b8" /><Relationship Type="http://schemas.openxmlformats.org/officeDocument/2006/relationships/tableStyles" Target="/ppt/tableStyles.xml" Id="R9b85b06e053340f7" /><Relationship Type="http://schemas.openxmlformats.org/officeDocument/2006/relationships/slide" Target="/ppt/slides/slide1.xml" Id="R47b1c68b598d48b6" /><Relationship Type="http://schemas.openxmlformats.org/officeDocument/2006/relationships/slide" Target="/ppt/slides/slide2.xml" Id="R9ee7cabf7bd34d40" /><Relationship Type="http://schemas.openxmlformats.org/officeDocument/2006/relationships/slide" Target="/ppt/slides/slide3.xml" Id="Red1029421d074841" /><Relationship Type="http://schemas.openxmlformats.org/officeDocument/2006/relationships/slide" Target="/ppt/slides/slide4.xml" Id="Rd4fbdebcf2c04544" /><Relationship Type="http://schemas.openxmlformats.org/officeDocument/2006/relationships/slide" Target="/ppt/slides/slide5.xml" Id="R834d21b1011d4466" /><Relationship Type="http://schemas.openxmlformats.org/officeDocument/2006/relationships/slide" Target="/ppt/slides/slide6.xml" Id="Re1d1db62f3794598" /><Relationship Type="http://schemas.openxmlformats.org/officeDocument/2006/relationships/slide" Target="/ppt/slides/slide7.xml" Id="R092b19aac2724eec" /><Relationship Type="http://schemas.openxmlformats.org/officeDocument/2006/relationships/slide" Target="/ppt/slides/slide8.xml" Id="R81dd3646d74c4fcc" /><Relationship Type="http://schemas.openxmlformats.org/officeDocument/2006/relationships/slide" Target="/ppt/slides/slide9.xml" Id="R8acbd2c87a6c4c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90b9516f1b43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baba34bcfe480a" /><Relationship Type="http://schemas.openxmlformats.org/officeDocument/2006/relationships/notesMaster" Target="/ppt/notesMasters/notesMaster1.xml" Id="Rea7ef4f9dd554c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1e79b43d81498a" /><Relationship Type="http://schemas.openxmlformats.org/officeDocument/2006/relationships/notesMaster" Target="/ppt/notesMasters/notesMaster1.xml" Id="Ra2d527769d2444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8d3c269713461e" /><Relationship Type="http://schemas.openxmlformats.org/officeDocument/2006/relationships/notesMaster" Target="/ppt/notesMasters/notesMaster1.xml" Id="R5e0e139abecc41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ece3de5f824a70" /><Relationship Type="http://schemas.openxmlformats.org/officeDocument/2006/relationships/notesMaster" Target="/ppt/notesMasters/notesMaster1.xml" Id="Ra224fdaa038743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d4d2bac0bf4cd8" /><Relationship Type="http://schemas.openxmlformats.org/officeDocument/2006/relationships/notesMaster" Target="/ppt/notesMasters/notesMaster1.xml" Id="Rb36d94c8d86447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9c248ab32d4827" /><Relationship Type="http://schemas.openxmlformats.org/officeDocument/2006/relationships/notesMaster" Target="/ppt/notesMasters/notesMaster1.xml" Id="R006ca1d3a5b545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0cfef570c74915" /><Relationship Type="http://schemas.openxmlformats.org/officeDocument/2006/relationships/notesMaster" Target="/ppt/notesMasters/notesMaster1.xml" Id="R8221cf668e5346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7924af2a7146e1" /><Relationship Type="http://schemas.openxmlformats.org/officeDocument/2006/relationships/notesMaster" Target="/ppt/notesMasters/notesMaster1.xml" Id="R712710a06c074b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a7c82624e04246" /><Relationship Type="http://schemas.openxmlformats.org/officeDocument/2006/relationships/notesMaster" Target="/ppt/notesMasters/notesMaster1.xml" Id="Rd898b4e9e3fb4f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talk presents the physical layer formalization for an SDN-enabled 6G ISAC network. The focus is resource orchestration and resilience, not a full radio-physics simulator. Timed automata do not calculate SINR, detection probability or CRB directly. These values are estimated outside the automata. Then they are mapped to finite classes. These classes become the inputs for contract timed automata, which can be checked by UPPAAL-style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 is practical: to define a physical layer abstraction that can be used inside a model checker. The layer must report communication and sensing degradation to MAC and SDN within bounded time. The talk follows five points. First, I show the position of PHY in the hierarchy. Then I explain the abstraction function, the automata, the sensing capability metrics, and finally the verification logic with observer automata.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method has three steps. First, the estimator layer computes physical values, such as SINR, BLER, probability of detection, false alarm rate, beam error, and age of sensing. Second, the abstraction function maps these values to finite classes. Third, these classes become guards, updates, and report events in timed automata. This design keeps the model finite, avoids an unrealistic state space, and still preserves the information needed by upper control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physical layer is the lower measured part of the hierarchy. The service layer defines SLA requirements. SDN selects global policies and recovery actions. MAC implements radio-resource scheduling, such as pilot density, PRS resources, power, MCS, and beam commands. PHY receives these commands, observes the environment through estimators, classifies the current state, and reports degradation. This makes PHY a measurement and reporting layer for orchestration, not the global decision maker.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bridge is alpha PHY. It maps measured values and configuration values to a discrete set. Continuous values are not used directly in guards. For example, SINR is converted into OUTAGE, LOW, OK, or HIGH. Similar classes are used for channel, signal, beam and sensing quality. The abstraction is conservative. If a value is close to a boundary or has uncertainty, it is mapped to the worse neighboring class. This reduces false safety in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PHY layer is decomposed into four child automata and one aggregate automaton. A CH tracks the channel class. A SIG tracks the signal configuration, for example pilot-based or payload-assisted sensing. A BM tracks beam search, tracking, misalignment and recovery. A SQ evaluates sensing quality. Their reports are broadcast, because more than one consumer may need the same event. A PH combines the reports and publishes one global PHY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is a working formal PHY abstraction. First, radio estimators are separated from the automata core, so the model does not pretend to calculate physics internally. Second, communication degradation and sensing degradation are explicit states. This is important because a communication problem and a sensing problem are not always the same. Third, reports, recovery actions and deadline requirements can be checked with observer automata and clocks.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PHY layer is a finite and conservative contract layer. It does not claim that timed automata calculate detection probability, false alarm rate, or CRB. SensCAP-type metrics are used at the estimator or SDN-score side, then converted to classes such as ProbabilityLimited, FreshnessLimited, or CapacityLimited. The next implementation step is to calibrate thresholds with simulation or field traces, connect PHY reports to MAC and SDN policies, and check bounded response observers in UPPAAL XML or XTA.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completes the presentation. I am ready to discuss abstraction thresholds, automata interfaces, and the UPPAAL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9abd8dcf704f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9ab1305fe8447b" /><Relationship Type="http://schemas.openxmlformats.org/officeDocument/2006/relationships/slideLayout" Target="/ppt/slideLayouts/slideLayout1.xml" Id="R1daa2b7626604b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aa2b7626604b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d4bd27c5474acf" /><Relationship Type="http://schemas.openxmlformats.org/officeDocument/2006/relationships/image" Target="/ppt/media/image.png" Id="R7aca0054d8364b5e" /><Relationship Type="http://schemas.openxmlformats.org/officeDocument/2006/relationships/image" Target="/ppt/media/image2.png" Id="R1da72a3b5cb74a60" /><Relationship Type="http://schemas.openxmlformats.org/officeDocument/2006/relationships/image" Target="/ppt/media/image3.png" Id="R4af7e64431ba4854" /><Relationship Type="http://schemas.openxmlformats.org/officeDocument/2006/relationships/notesSlide" Target="/ppt/notesSlides/notesSlide1.xml" Id="R41bad02801e744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62259ccd42434c" /><Relationship Type="http://schemas.openxmlformats.org/officeDocument/2006/relationships/image" Target="/ppt/media/image4.png" Id="R16f6a9c0890f47b3" /><Relationship Type="http://schemas.openxmlformats.org/officeDocument/2006/relationships/notesSlide" Target="/ppt/notesSlides/notesSlide2.xml" Id="R8c3dac4352fd49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574a1647df4382" /><Relationship Type="http://schemas.openxmlformats.org/officeDocument/2006/relationships/image" Target="/ppt/media/image5.png" Id="Re93b5230dad14a0a" /><Relationship Type="http://schemas.openxmlformats.org/officeDocument/2006/relationships/notesSlide" Target="/ppt/notesSlides/notesSlide3.xml" Id="Rde891367995f46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fe10eb8af440f9" /><Relationship Type="http://schemas.openxmlformats.org/officeDocument/2006/relationships/image" Target="/ppt/media/image6.png" Id="R706aea5436d0412e" /><Relationship Type="http://schemas.openxmlformats.org/officeDocument/2006/relationships/image" Target="/ppt/media/image7.png" Id="R9077ee17686949fb" /><Relationship Type="http://schemas.openxmlformats.org/officeDocument/2006/relationships/notesSlide" Target="/ppt/notesSlides/notesSlide4.xml" Id="Ref761946fd694d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db9cae8f7446d4" /><Relationship Type="http://schemas.openxmlformats.org/officeDocument/2006/relationships/image" Target="/ppt/media/image8.png" Id="R3dd691ec635e4333" /><Relationship Type="http://schemas.openxmlformats.org/officeDocument/2006/relationships/notesSlide" Target="/ppt/notesSlides/notesSlide5.xml" Id="R320a9d946c1140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9dd7c32a704819" /><Relationship Type="http://schemas.openxmlformats.org/officeDocument/2006/relationships/image" Target="/ppt/media/image9.png" Id="Rae0c6583960946c8" /><Relationship Type="http://schemas.openxmlformats.org/officeDocument/2006/relationships/notesSlide" Target="/ppt/notesSlides/notesSlide6.xml" Id="R5bdfea00942b40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afb906a1ff4aa4" /><Relationship Type="http://schemas.openxmlformats.org/officeDocument/2006/relationships/image" Target="/ppt/media/image10.png" Id="Rb86edbd35ce94a9f" /><Relationship Type="http://schemas.openxmlformats.org/officeDocument/2006/relationships/notesSlide" Target="/ppt/notesSlides/notesSlide7.xml" Id="R9e499c9170c447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f0c4f126194a5f" /><Relationship Type="http://schemas.openxmlformats.org/officeDocument/2006/relationships/image" Target="/ppt/media/image11.png" Id="R02e9ff2a95ea4075" /><Relationship Type="http://schemas.openxmlformats.org/officeDocument/2006/relationships/notesSlide" Target="/ppt/notesSlides/notesSlide8.xml" Id="R602e52ff7fc747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2fef1d4fcd4fbe" /><Relationship Type="http://schemas.openxmlformats.org/officeDocument/2006/relationships/image" Target="/ppt/media/image12.png" Id="R76e1a14d6a4b4d90" /><Relationship Type="http://schemas.openxmlformats.org/officeDocument/2006/relationships/notesSlide" Target="/ppt/notesSlides/notesSlide9.xml" Id="R05b40cce2a9e4cf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7aca0054d8364b5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CCB1AF-EC30-4977-9CAC-6189C658FC8E}"/>
              </a:ext>
            </a:extLst>
          </p:cNvPr>
          <p:cNvSpPr>
            <a:spLocks xmlns:a="http://schemas.openxmlformats.org/drawingml/2006/main" noGrp="1"/>
          </p:cNvSpPr>
          <p:nvPr/>
        </p:nvSpPr>
        <p:spPr>
          <a:xfrm xmlns:a="http://schemas.openxmlformats.org/drawingml/2006/main">
            <a:off x="666750" y="781050"/>
            <a:ext cx="5334000" cy="1476375"/>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3450" b="1" i="0">
                <a:solidFill>
                  <a:srgbClr val="FFFFFF"/>
                </a:solidFill>
                <a:latin typeface="Aptos Display"/>
                <a:ea typeface="Aptos Display"/>
                <a:cs typeface="Aptos Display"/>
              </a:defRPr>
            </a:pPr>
            <a:r>
              <a:rPr sz="3450" b="1" i="0">
                <a:solidFill>
                  <a:srgbClr val="FFFFFF"/>
                </a:solidFill>
                <a:latin typeface="Aptos Display"/>
                <a:ea typeface="Aptos Display"/>
                <a:cs typeface="Aptos Display"/>
              </a:rPr>
              <a:t>A Physical Layer</a:t>
            </a:r>
          </a:p>
          <a:p xmlns:a="http://schemas.openxmlformats.org/drawingml/2006/main">
            <a:pPr algn="l">
              <a:defRPr sz="3450" b="1" i="0">
                <a:solidFill>
                  <a:srgbClr val="FFFFFF"/>
                </a:solidFill>
                <a:latin typeface="Aptos Display"/>
                <a:ea typeface="Aptos Display"/>
                <a:cs typeface="Aptos Display"/>
              </a:defRPr>
            </a:pPr>
            <a:r>
              <a:rPr sz="3450" b="1" i="0">
                <a:solidFill>
                  <a:srgbClr val="FFFFFF"/>
                </a:solidFill>
                <a:latin typeface="Aptos Display"/>
                <a:ea typeface="Aptos Display"/>
                <a:cs typeface="Aptos Display"/>
              </a:rPr>
              <a:t>Formalization</a:t>
            </a:r>
          </a:p>
        </p:txBody>
      </p:sp>
      <p:sp>
        <p:nvSpPr>
          <p:cNvPr id="3" name="">
            <a:extLst xmlns:a="http://schemas.openxmlformats.org/drawingml/2006/main">
              <a:ext uri="{FF2B5EF4-FFF2-40B4-BE49-F238E27FC236}">
                <a16:creationId xmlns:a16="http://schemas.microsoft.com/office/drawing/2014/main" id="{E211D6FA-837F-48AD-BAA1-9F171D982F7B}"/>
              </a:ext>
            </a:extLst>
          </p:cNvPr>
          <p:cNvSpPr>
            <a:spLocks xmlns:a="http://schemas.openxmlformats.org/drawingml/2006/main" noGrp="1"/>
          </p:cNvSpPr>
          <p:nvPr/>
        </p:nvSpPr>
        <p:spPr>
          <a:xfrm xmlns:a="http://schemas.openxmlformats.org/drawingml/2006/main">
            <a:off x="685800" y="2400300"/>
            <a:ext cx="6096000" cy="8572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500" b="0" i="0">
                <a:solidFill>
                  <a:srgbClr val="EEF2FF"/>
                </a:solidFill>
                <a:latin typeface="Aptos"/>
                <a:ea typeface="Aptos"/>
                <a:cs typeface="Aptos"/>
              </a:defRPr>
            </a:pPr>
            <a:r>
              <a:rPr sz="1500" b="0" i="0">
                <a:solidFill>
                  <a:srgbClr val="EEF2FF"/>
                </a:solidFill>
                <a:latin typeface="Aptos"/>
                <a:ea typeface="Aptos"/>
                <a:cs typeface="Aptos"/>
              </a:rPr>
              <a:t>Hierarchical Timed-Automata Evaluation Model for Resource Orchestration and Resilience in SDN-Enabled Computation-Centric 6G ISAC Networks</a:t>
            </a:r>
          </a:p>
        </p:txBody>
      </p:sp>
      <p:sp>
        <p:nvSpPr>
          <p:cNvPr id="4" name="">
            <a:extLst xmlns:a="http://schemas.openxmlformats.org/drawingml/2006/main">
              <a:ext uri="{FF2B5EF4-FFF2-40B4-BE49-F238E27FC236}">
                <a16:creationId xmlns:a16="http://schemas.microsoft.com/office/drawing/2014/main" id="{CE158A81-658A-44DC-9AF7-8FE514CB5393}"/>
              </a:ext>
            </a:extLst>
          </p:cNvPr>
          <p:cNvSpPr>
            <a:spLocks xmlns:a="http://schemas.openxmlformats.org/drawingml/2006/main" noGrp="1"/>
          </p:cNvSpPr>
          <p:nvPr/>
        </p:nvSpPr>
        <p:spPr>
          <a:xfrm xmlns:a="http://schemas.openxmlformats.org/drawingml/2006/main">
            <a:off x="704850" y="3638550"/>
            <a:ext cx="40005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650" b="0" i="0">
                <a:solidFill>
                  <a:srgbClr val="3B0A78"/>
                </a:solidFill>
                <a:latin typeface="Cambria Math"/>
                <a:ea typeface="Cambria Math"/>
                <a:cs typeface="Cambria Math"/>
              </a:defRPr>
            </a:pPr>
            <a:r>
              <a:rPr sz="1650" b="0" i="0">
                <a:solidFill>
                  <a:srgbClr val="3B0A78"/>
                </a:solidFill>
                <a:latin typeface="Cambria Math"/>
                <a:ea typeface="Cambria Math"/>
                <a:cs typeface="Cambria Math"/>
              </a:rPr>
              <a:t>αPHY : Xmeas × Xcfg → Xdisc</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da72a3b5cb74a60"/>
          <a:stretch xmlns:a="http://schemas.openxmlformats.org/drawingml/2006/main"/>
        </p:blipFill>
        <p:spPr>
          <a:xfrm xmlns:a="http://schemas.openxmlformats.org/drawingml/2006/main">
            <a:off x="8001000" y="1836208"/>
            <a:ext cx="2857500" cy="1566333"/>
          </a:xfrm>
          <a:prstGeom xmlns:a="http://schemas.openxmlformats.org/drawingml/2006/main" prst="rect">
            <a:avLst/>
          </a:prstGeom>
        </p:spPr>
      </p:pic>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af7e64431ba4854"/>
          <a:stretch xmlns:a="http://schemas.openxmlformats.org/drawingml/2006/main"/>
        </p:blipFill>
        <p:spPr>
          <a:xfrm xmlns:a="http://schemas.openxmlformats.org/drawingml/2006/main">
            <a:off x="7524750" y="3946624"/>
            <a:ext cx="1714500" cy="128885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3504FD3-CB3D-4E0A-8704-08B146E5656B}"/>
              </a:ext>
            </a:extLst>
          </p:cNvPr>
          <p:cNvSpPr>
            <a:spLocks xmlns:a="http://schemas.openxmlformats.org/drawingml/2006/main" noGrp="1"/>
          </p:cNvSpPr>
          <p:nvPr/>
        </p:nvSpPr>
        <p:spPr>
          <a:xfrm xmlns:a="http://schemas.openxmlformats.org/drawingml/2006/main">
            <a:off x="704850" y="5810250"/>
            <a:ext cx="3429000" cy="2857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350" b="0" i="0">
                <a:solidFill>
                  <a:srgbClr val="F3F4F6"/>
                </a:solidFill>
                <a:latin typeface="Aptos"/>
                <a:ea typeface="Aptos"/>
                <a:cs typeface="Aptos"/>
              </a:defRPr>
            </a:pPr>
            <a:r>
              <a:rPr sz="1350" b="0" i="0">
                <a:solidFill>
                  <a:srgbClr val="F3F4F6"/>
                </a:solidFill>
                <a:latin typeface="Aptos"/>
                <a:ea typeface="Aptos"/>
                <a:cs typeface="Aptos"/>
              </a:rPr>
              <a:t>Vadim Tinishov</a:t>
            </a:r>
          </a:p>
        </p:txBody>
      </p:sp>
      <p:sp>
        <p:nvSpPr>
          <p:cNvPr id="8" name="">
            <a:extLst xmlns:a="http://schemas.openxmlformats.org/drawingml/2006/main">
              <a:ext uri="{FF2B5EF4-FFF2-40B4-BE49-F238E27FC236}">
                <a16:creationId xmlns:a16="http://schemas.microsoft.com/office/drawing/2014/main" id="{0664E67D-4E5C-4016-9768-60727CD55DE0}"/>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E5E7EB"/>
                </a:solidFill>
                <a:latin typeface="Aptos"/>
                <a:ea typeface="Aptos"/>
                <a:cs typeface="Aptos"/>
              </a:defRPr>
            </a:pPr>
            <a:r>
              <a:rPr sz="825" b="0" i="0">
                <a:solidFill>
                  <a:srgbClr val="E5E7EB"/>
                </a:solidFill>
                <a:latin typeface="Aptos"/>
                <a:ea typeface="Aptos"/>
                <a:cs typeface="Aptos"/>
              </a:rPr>
              <a:t>PHY formalization | 1/9</a:t>
            </a:r>
          </a:p>
        </p:txBody>
      </p:sp>
    </p:spTree>
    <p:extLst>
      <p:ext uri="{BB962C8B-B14F-4D97-AF65-F5344CB8AC3E}">
        <p14:creationId xmlns:p14="http://schemas.microsoft.com/office/powerpoint/2010/main" val="74725632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16f6a9c0890f47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E990CFB-8632-4BE1-8EAB-D550B9F55D80}"/>
              </a:ext>
            </a:extLst>
          </p:cNvPr>
          <p:cNvSpPr>
            <a:spLocks xmlns:a="http://schemas.openxmlformats.org/drawingml/2006/main" noGrp="1"/>
          </p:cNvSpPr>
          <p:nvPr/>
        </p:nvSpPr>
        <p:spPr>
          <a:xfrm xmlns:a="http://schemas.openxmlformats.org/drawingml/2006/main">
            <a:off x="1181100" y="1466850"/>
            <a:ext cx="8763000" cy="8763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800" b="1" i="0">
                <a:solidFill>
                  <a:srgbClr val="111827"/>
                </a:solidFill>
                <a:latin typeface="Aptos"/>
                <a:ea typeface="Aptos"/>
                <a:cs typeface="Aptos"/>
              </a:defRPr>
            </a:pPr>
            <a:r>
              <a:rPr sz="1800" b="1" i="0">
                <a:solidFill>
                  <a:srgbClr val="111827"/>
                </a:solidFill>
                <a:latin typeface="Aptos"/>
                <a:ea typeface="Aptos"/>
                <a:cs typeface="Aptos"/>
              </a:rPr>
              <a:t>to define a verifiable PHY abstraction that reports communication and sensing degradation to MAC and SDN control within bounded deadlines</a:t>
            </a:r>
          </a:p>
        </p:txBody>
      </p:sp>
      <p:sp>
        <p:nvSpPr>
          <p:cNvPr id="3" name="">
            <a:extLst xmlns:a="http://schemas.openxmlformats.org/drawingml/2006/main">
              <a:ext uri="{FF2B5EF4-FFF2-40B4-BE49-F238E27FC236}">
                <a16:creationId xmlns:a16="http://schemas.microsoft.com/office/drawing/2014/main" id="{83363019-F6B8-43A0-B51D-692589A335C4}"/>
              </a:ext>
            </a:extLst>
          </p:cNvPr>
          <p:cNvSpPr>
            <a:spLocks xmlns:a="http://schemas.openxmlformats.org/drawingml/2006/main" noGrp="1"/>
          </p:cNvSpPr>
          <p:nvPr/>
        </p:nvSpPr>
        <p:spPr>
          <a:xfrm xmlns:a="http://schemas.openxmlformats.org/drawingml/2006/main">
            <a:off x="1181100" y="2724150"/>
            <a:ext cx="2286000" cy="4191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2400" b="1" i="0">
                <a:solidFill>
                  <a:srgbClr val="8C1DFF"/>
                </a:solidFill>
                <a:latin typeface="Aptos"/>
                <a:ea typeface="Aptos"/>
                <a:cs typeface="Aptos"/>
              </a:defRPr>
            </a:pPr>
            <a:r>
              <a:rPr sz="2400" b="1" i="0">
                <a:solidFill>
                  <a:srgbClr val="8C1DFF"/>
                </a:solidFill>
                <a:latin typeface="Aptos"/>
                <a:ea typeface="Aptos"/>
                <a:cs typeface="Aptos"/>
              </a:rPr>
              <a:t>Outline</a:t>
            </a:r>
          </a:p>
        </p:txBody>
      </p:sp>
      <p:sp>
        <p:nvSpPr>
          <p:cNvPr id="4" name="">
            <a:extLst xmlns:a="http://schemas.openxmlformats.org/drawingml/2006/main">
              <a:ext uri="{FF2B5EF4-FFF2-40B4-BE49-F238E27FC236}">
                <a16:creationId xmlns:a16="http://schemas.microsoft.com/office/drawing/2014/main" id="{028DA06E-B418-4136-BE54-5AA0A86FA692}"/>
              </a:ext>
            </a:extLst>
          </p:cNvPr>
          <p:cNvSpPr>
            <a:spLocks xmlns:a="http://schemas.openxmlformats.org/drawingml/2006/main" noGrp="1"/>
          </p:cNvSpPr>
          <p:nvPr/>
        </p:nvSpPr>
        <p:spPr>
          <a:xfrm xmlns:a="http://schemas.openxmlformats.org/drawingml/2006/main">
            <a:off x="1238250" y="3333750"/>
            <a:ext cx="8572500" cy="20002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650" b="0" i="0">
                <a:solidFill>
                  <a:srgbClr val="111827"/>
                </a:solidFill>
                <a:latin typeface="Aptos"/>
                <a:ea typeface="Aptos"/>
                <a:cs typeface="Aptos"/>
              </a:defRPr>
            </a:pPr>
            <a:r>
              <a:rPr sz="1650" b="0" i="0">
                <a:solidFill>
                  <a:srgbClr val="111827"/>
                </a:solidFill>
                <a:latin typeface="Aptos"/>
                <a:ea typeface="Aptos"/>
                <a:cs typeface="Aptos"/>
              </a:rPr>
              <a:t>• role of PHY in the hierarchical model</a:t>
            </a:r>
          </a:p>
          <a:p xmlns:a="http://schemas.openxmlformats.org/drawingml/2006/main">
            <a:pPr algn="l">
              <a:defRPr sz="1650" b="0" i="0">
                <a:solidFill>
                  <a:srgbClr val="111827"/>
                </a:solidFill>
                <a:latin typeface="Aptos"/>
                <a:ea typeface="Aptos"/>
                <a:cs typeface="Aptos"/>
              </a:defRPr>
            </a:pPr>
            <a:r>
              <a:rPr sz="1650" b="0" i="0">
                <a:solidFill>
                  <a:srgbClr val="111827"/>
                </a:solidFill>
                <a:latin typeface="Aptos"/>
                <a:ea typeface="Aptos"/>
                <a:cs typeface="Aptos"/>
              </a:rPr>
              <a:t>• continuous-to-discrete abstraction</a:t>
            </a:r>
          </a:p>
          <a:p xmlns:a="http://schemas.openxmlformats.org/drawingml/2006/main">
            <a:pPr algn="l">
              <a:defRPr sz="1650" b="0" i="0">
                <a:solidFill>
                  <a:srgbClr val="111827"/>
                </a:solidFill>
                <a:latin typeface="Aptos"/>
                <a:ea typeface="Aptos"/>
                <a:cs typeface="Aptos"/>
              </a:defRPr>
            </a:pPr>
            <a:r>
              <a:rPr sz="1650" b="0" i="0">
                <a:solidFill>
                  <a:srgbClr val="111827"/>
                </a:solidFill>
                <a:latin typeface="Aptos"/>
                <a:ea typeface="Aptos"/>
                <a:cs typeface="Aptos"/>
              </a:rPr>
              <a:t>• contract timed automata for channel, signal, beam and sensing</a:t>
            </a:r>
          </a:p>
          <a:p xmlns:a="http://schemas.openxmlformats.org/drawingml/2006/main">
            <a:pPr algn="l">
              <a:defRPr sz="1650" b="0" i="0">
                <a:solidFill>
                  <a:srgbClr val="111827"/>
                </a:solidFill>
                <a:latin typeface="Aptos"/>
                <a:ea typeface="Aptos"/>
                <a:cs typeface="Aptos"/>
              </a:defRPr>
            </a:pPr>
            <a:r>
              <a:rPr sz="1650" b="0" i="0">
                <a:solidFill>
                  <a:srgbClr val="111827"/>
                </a:solidFill>
                <a:latin typeface="Aptos"/>
                <a:ea typeface="Aptos"/>
                <a:cs typeface="Aptos"/>
              </a:rPr>
              <a:t>• SensCAP, freshness and penalty score</a:t>
            </a:r>
          </a:p>
          <a:p xmlns:a="http://schemas.openxmlformats.org/drawingml/2006/main">
            <a:pPr algn="l">
              <a:defRPr sz="1650" b="0" i="0">
                <a:solidFill>
                  <a:srgbClr val="111827"/>
                </a:solidFill>
                <a:latin typeface="Aptos"/>
                <a:ea typeface="Aptos"/>
                <a:cs typeface="Aptos"/>
              </a:defRPr>
            </a:pPr>
            <a:r>
              <a:rPr sz="1650" b="0" i="0">
                <a:solidFill>
                  <a:srgbClr val="111827"/>
                </a:solidFill>
                <a:latin typeface="Aptos"/>
                <a:ea typeface="Aptos"/>
                <a:cs typeface="Aptos"/>
              </a:rPr>
              <a:t>• UPPAAL-ready observers and verification targets</a:t>
            </a:r>
          </a:p>
        </p:txBody>
      </p:sp>
      <p:sp>
        <p:nvSpPr>
          <p:cNvPr id="5" name="">
            <a:extLst xmlns:a="http://schemas.openxmlformats.org/drawingml/2006/main">
              <a:ext uri="{FF2B5EF4-FFF2-40B4-BE49-F238E27FC236}">
                <a16:creationId xmlns:a16="http://schemas.microsoft.com/office/drawing/2014/main" id="{C767076D-80FE-4974-8E67-C8E176C7C736}"/>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7B8190"/>
                </a:solidFill>
                <a:latin typeface="Aptos"/>
                <a:ea typeface="Aptos"/>
                <a:cs typeface="Aptos"/>
              </a:defRPr>
            </a:pPr>
            <a:r>
              <a:rPr sz="825" b="0" i="0">
                <a:solidFill>
                  <a:srgbClr val="7B8190"/>
                </a:solidFill>
                <a:latin typeface="Aptos"/>
                <a:ea typeface="Aptos"/>
                <a:cs typeface="Aptos"/>
              </a:rPr>
              <a:t>PHY formalization | 2/9</a:t>
            </a:r>
          </a:p>
        </p:txBody>
      </p:sp>
    </p:spTree>
    <p:extLst>
      <p:ext uri="{BB962C8B-B14F-4D97-AF65-F5344CB8AC3E}">
        <p14:creationId xmlns:p14="http://schemas.microsoft.com/office/powerpoint/2010/main" val="26469859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e93b5230dad14a0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0C05DD-3459-4512-B1F2-8C05EEE2BFB6}"/>
              </a:ext>
            </a:extLst>
          </p:cNvPr>
          <p:cNvSpPr>
            <a:spLocks xmlns:a="http://schemas.openxmlformats.org/drawingml/2006/main" noGrp="1"/>
          </p:cNvSpPr>
          <p:nvPr/>
        </p:nvSpPr>
        <p:spPr>
          <a:xfrm xmlns:a="http://schemas.openxmlformats.org/drawingml/2006/main">
            <a:off x="1066800" y="552450"/>
            <a:ext cx="7810500" cy="5143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2250" b="1" i="0">
                <a:solidFill>
                  <a:srgbClr val="111827"/>
                </a:solidFill>
                <a:latin typeface="Aptos Display"/>
                <a:ea typeface="Aptos Display"/>
                <a:cs typeface="Aptos Display"/>
              </a:defRPr>
            </a:pPr>
            <a:r>
              <a:rPr sz="2250" b="1" i="0">
                <a:solidFill>
                  <a:srgbClr val="111827"/>
                </a:solidFill>
                <a:latin typeface="Aptos Display"/>
                <a:ea typeface="Aptos Display"/>
                <a:cs typeface="Aptos Display"/>
              </a:rPr>
              <a:t>Methods are</a:t>
            </a:r>
          </a:p>
        </p:txBody>
      </p:sp>
      <p:sp>
        <p:nvSpPr>
          <p:cNvPr id="3" name="">
            <a:extLst xmlns:a="http://schemas.openxmlformats.org/drawingml/2006/main">
              <a:ext uri="{FF2B5EF4-FFF2-40B4-BE49-F238E27FC236}">
                <a16:creationId xmlns:a16="http://schemas.microsoft.com/office/drawing/2014/main" id="{DC729C43-7579-408E-9C29-1FB427451F3D}"/>
              </a:ext>
            </a:extLst>
          </p:cNvPr>
          <p:cNvSpPr>
            <a:spLocks xmlns:a="http://schemas.openxmlformats.org/drawingml/2006/main" noGrp="1"/>
          </p:cNvSpPr>
          <p:nvPr/>
        </p:nvSpPr>
        <p:spPr>
          <a:xfrm xmlns:a="http://schemas.openxmlformats.org/drawingml/2006/main">
            <a:off x="1066800" y="1009650"/>
            <a:ext cx="8572500" cy="3048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125" b="0" i="0">
                <a:solidFill>
                  <a:srgbClr val="F3E8FF"/>
                </a:solidFill>
                <a:latin typeface="Aptos"/>
                <a:ea typeface="Aptos"/>
                <a:cs typeface="Aptos"/>
              </a:defRPr>
            </a:pPr>
            <a:r>
              <a:rPr sz="1125" b="0" i="0">
                <a:solidFill>
                  <a:srgbClr val="F3E8FF"/>
                </a:solidFill>
                <a:latin typeface="Aptos"/>
                <a:ea typeface="Aptos"/>
                <a:cs typeface="Aptos"/>
              </a:rPr>
              <a:t>The PHY layer is formalized as a controlled abstraction, not as an I/Q waveform simulator.</a:t>
            </a:r>
          </a:p>
        </p:txBody>
      </p:sp>
      <p:sp>
        <p:nvSpPr>
          <p:cNvPr id="4" name="">
            <a:extLst xmlns:a="http://schemas.openxmlformats.org/drawingml/2006/main">
              <a:ext uri="{FF2B5EF4-FFF2-40B4-BE49-F238E27FC236}">
                <a16:creationId xmlns:a16="http://schemas.microsoft.com/office/drawing/2014/main" id="{BBA39636-58B3-4498-A94D-EA052F14E8D6}"/>
              </a:ext>
            </a:extLst>
          </p:cNvPr>
          <p:cNvSpPr>
            <a:spLocks xmlns:a="http://schemas.openxmlformats.org/drawingml/2006/main" noGrp="1"/>
          </p:cNvSpPr>
          <p:nvPr/>
        </p:nvSpPr>
        <p:spPr>
          <a:xfrm xmlns:a="http://schemas.openxmlformats.org/drawingml/2006/main">
            <a:off x="1200150" y="1600200"/>
            <a:ext cx="2857500" cy="2000250"/>
          </a:xfrm>
          <a:prstGeom xmlns:a="http://schemas.openxmlformats.org/drawingml/2006/main" prst="roundRect">
            <a:avLst>
              <a:gd name="adj" fmla="val 3810"/>
            </a:avLst>
          </a:prstGeom>
          <a:solidFill xmlns:a="http://schemas.openxmlformats.org/drawingml/2006/main">
            <a:srgbClr val="EAF3FF"/>
          </a:solidFill>
          <a:ln xmlns:a="http://schemas.openxmlformats.org/drawingml/2006/main" w="9525">
            <a:solidFill>
              <a:srgbClr val="A8C7FF"/>
            </a:solid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1</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Estimate PHY values outside automata</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SINR, BLER, Pd, Rfa, CRB, beam error, AoS</a:t>
            </a:r>
          </a:p>
        </p:txBody>
      </p:sp>
      <p:sp>
        <p:nvSpPr>
          <p:cNvPr id="5" name="">
            <a:extLst xmlns:a="http://schemas.openxmlformats.org/drawingml/2006/main">
              <a:ext uri="{FF2B5EF4-FFF2-40B4-BE49-F238E27FC236}">
                <a16:creationId xmlns:a16="http://schemas.microsoft.com/office/drawing/2014/main" id="{48A277A7-D714-4FC0-81C7-1F39A2EEF845}"/>
              </a:ext>
            </a:extLst>
          </p:cNvPr>
          <p:cNvSpPr>
            <a:spLocks xmlns:a="http://schemas.openxmlformats.org/drawingml/2006/main" noGrp="1"/>
          </p:cNvSpPr>
          <p:nvPr/>
        </p:nvSpPr>
        <p:spPr>
          <a:xfrm xmlns:a="http://schemas.openxmlformats.org/drawingml/2006/main">
            <a:off x="4629150" y="1600200"/>
            <a:ext cx="2857500" cy="2000250"/>
          </a:xfrm>
          <a:prstGeom xmlns:a="http://schemas.openxmlformats.org/drawingml/2006/main" prst="roundRect">
            <a:avLst>
              <a:gd name="adj" fmla="val 3810"/>
            </a:avLst>
          </a:prstGeom>
          <a:solidFill xmlns:a="http://schemas.openxmlformats.org/drawingml/2006/main">
            <a:srgbClr val="EAF8F0"/>
          </a:solidFill>
          <a:ln xmlns:a="http://schemas.openxmlformats.org/drawingml/2006/main" w="9525">
            <a:solidFill>
              <a:srgbClr val="9DD9B8"/>
            </a:solid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2</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Discretize to finite classes</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ChannelClass, SignalClass, BeamClass, SensingState</a:t>
            </a:r>
          </a:p>
        </p:txBody>
      </p:sp>
      <p:sp>
        <p:nvSpPr>
          <p:cNvPr id="6" name="">
            <a:extLst xmlns:a="http://schemas.openxmlformats.org/drawingml/2006/main">
              <a:ext uri="{FF2B5EF4-FFF2-40B4-BE49-F238E27FC236}">
                <a16:creationId xmlns:a16="http://schemas.microsoft.com/office/drawing/2014/main" id="{30AFC379-0875-4A07-B4E4-F7629BBD8E82}"/>
              </a:ext>
            </a:extLst>
          </p:cNvPr>
          <p:cNvSpPr>
            <a:spLocks xmlns:a="http://schemas.openxmlformats.org/drawingml/2006/main" noGrp="1"/>
          </p:cNvSpPr>
          <p:nvPr/>
        </p:nvSpPr>
        <p:spPr>
          <a:xfrm xmlns:a="http://schemas.openxmlformats.org/drawingml/2006/main">
            <a:off x="8058150" y="1600200"/>
            <a:ext cx="2857500" cy="2000250"/>
          </a:xfrm>
          <a:prstGeom xmlns:a="http://schemas.openxmlformats.org/drawingml/2006/main" prst="roundRect">
            <a:avLst>
              <a:gd name="adj" fmla="val 3810"/>
            </a:avLst>
          </a:prstGeom>
          <a:solidFill xmlns:a="http://schemas.openxmlformats.org/drawingml/2006/main">
            <a:srgbClr val="FFF4E1"/>
          </a:solidFill>
          <a:ln xmlns:a="http://schemas.openxmlformats.org/drawingml/2006/main" w="9525">
            <a:solidFill>
              <a:srgbClr val="FFD38A"/>
            </a:solid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3</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Verify bounded reactions</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reports, recovery commands, observers, no-deadlock checks</a:t>
            </a:r>
          </a:p>
        </p:txBody>
      </p:sp>
      <p:cxnSp>
        <p:nvCxnSpPr>
          <p:cNvPr id="7" name=""/>
          <p:cNvCxnSpPr>
            <a:stCxn xmlns:a="http://schemas.openxmlformats.org/drawingml/2006/main" id="5" idx="1"/>
            <a:endCxn xmlns:a="http://schemas.openxmlformats.org/drawingml/2006/main" id="4" idx="3"/>
          </p:cNvCxnSpPr>
          <p:nvPr/>
        </p:nvCxnSpPr>
        <p:spPr>
          <a:xfrm xmlns:a="http://schemas.openxmlformats.org/drawingml/2006/main" flipH="1">
            <a:off x="4057650" y="2600325"/>
            <a:ext cx="571500" cy="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cxnSp>
        <p:nvCxnSpPr>
          <p:cNvPr id="8" name=""/>
          <p:cNvCxnSpPr>
            <a:stCxn xmlns:a="http://schemas.openxmlformats.org/drawingml/2006/main" id="6" idx="1"/>
            <a:endCxn xmlns:a="http://schemas.openxmlformats.org/drawingml/2006/main" id="5" idx="3"/>
          </p:cNvCxnSpPr>
          <p:nvPr/>
        </p:nvCxnSpPr>
        <p:spPr>
          <a:xfrm xmlns:a="http://schemas.openxmlformats.org/drawingml/2006/main" flipH="1">
            <a:off x="7486650" y="2600325"/>
            <a:ext cx="571500" cy="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sp>
        <p:nvSpPr>
          <p:cNvPr id="9" name="">
            <a:extLst xmlns:a="http://schemas.openxmlformats.org/drawingml/2006/main">
              <a:ext uri="{FF2B5EF4-FFF2-40B4-BE49-F238E27FC236}">
                <a16:creationId xmlns:a16="http://schemas.microsoft.com/office/drawing/2014/main" id="{20E6B3A2-67B0-4D83-A04F-031C3634FA33}"/>
              </a:ext>
            </a:extLst>
          </p:cNvPr>
          <p:cNvSpPr>
            <a:spLocks xmlns:a="http://schemas.openxmlformats.org/drawingml/2006/main" noGrp="1"/>
          </p:cNvSpPr>
          <p:nvPr/>
        </p:nvSpPr>
        <p:spPr>
          <a:xfrm xmlns:a="http://schemas.openxmlformats.org/drawingml/2006/main">
            <a:off x="1619250" y="4238625"/>
            <a:ext cx="7810500" cy="514350"/>
          </a:xfrm>
          <a:prstGeom xmlns:a="http://schemas.openxmlformats.org/drawingml/2006/main" prst="roundRect">
            <a:avLst>
              <a:gd name="adj" fmla="val 14815"/>
            </a:avLst>
          </a:prstGeom>
          <a:solidFill xmlns:a="http://schemas.openxmlformats.org/drawingml/2006/main">
            <a:srgbClr val="F4F6FB"/>
          </a:solidFill>
          <a:ln xmlns:a="http://schemas.openxmlformats.org/drawingml/2006/main" w="9525">
            <a:solidFill>
              <a:srgbClr val="CCD4E3"/>
            </a:solidFill>
            <a:prstDash val="solid"/>
          </a:ln>
        </p:spPr>
        <p:txBody>
          <a:bodyPr xmlns:a="http://schemas.openxmlformats.org/drawingml/2006/main" anchor="ctr"/>
          <a:lstStyle xmlns:a="http://schemas.openxmlformats.org/drawingml/2006/main"/>
          <a:p xmlns:a="http://schemas.openxmlformats.org/drawingml/2006/main">
            <a:pPr algn="ctr">
              <a:defRPr sz="1350" b="0" i="0">
                <a:solidFill>
                  <a:srgbClr val="111827"/>
                </a:solidFill>
                <a:latin typeface="Cambria Math"/>
                <a:ea typeface="Cambria Math"/>
                <a:cs typeface="Cambria Math"/>
              </a:defRPr>
            </a:pPr>
            <a:r>
              <a:rPr sz="1350" b="0" i="0">
                <a:solidFill>
                  <a:srgbClr val="111827"/>
                </a:solidFill>
                <a:latin typeface="Cambria Math"/>
                <a:ea typeface="Cambria Math"/>
                <a:cs typeface="Cambria Math"/>
              </a:rPr>
              <a:t>Ai = (Li, l0i, Ci, Vi, Ei, Invi, Ini, Outi, Assi, Gari)</a:t>
            </a:r>
          </a:p>
        </p:txBody>
      </p:sp>
      <p:sp>
        <p:nvSpPr>
          <p:cNvPr id="10" name="">
            <a:extLst xmlns:a="http://schemas.openxmlformats.org/drawingml/2006/main">
              <a:ext uri="{FF2B5EF4-FFF2-40B4-BE49-F238E27FC236}">
                <a16:creationId xmlns:a16="http://schemas.microsoft.com/office/drawing/2014/main" id="{A21673C9-0B2A-4BE9-8259-510A2A8CFFFA}"/>
              </a:ext>
            </a:extLst>
          </p:cNvPr>
          <p:cNvSpPr>
            <a:spLocks xmlns:a="http://schemas.openxmlformats.org/drawingml/2006/main" noGrp="1"/>
          </p:cNvSpPr>
          <p:nvPr/>
        </p:nvSpPr>
        <p:spPr>
          <a:xfrm xmlns:a="http://schemas.openxmlformats.org/drawingml/2006/main">
            <a:off x="1676400" y="4895850"/>
            <a:ext cx="7810500" cy="5524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ctr">
              <a:defRPr sz="1500" b="0" i="0">
                <a:solidFill>
                  <a:srgbClr val="4B5563"/>
                </a:solidFill>
                <a:latin typeface="Aptos"/>
                <a:ea typeface="Aptos"/>
                <a:cs typeface="Aptos"/>
              </a:defRPr>
            </a:pPr>
            <a:r>
              <a:rPr sz="1500" b="0" i="0">
                <a:solidFill>
                  <a:srgbClr val="4B5563"/>
                </a:solidFill>
                <a:latin typeface="Aptos"/>
                <a:ea typeface="Aptos"/>
                <a:cs typeface="Aptos"/>
              </a:rPr>
              <a:t>Each component is a contract timed automaton with explicit clocks, guards, resets, invariants and input/output channels.</a:t>
            </a:r>
          </a:p>
        </p:txBody>
      </p:sp>
      <p:sp>
        <p:nvSpPr>
          <p:cNvPr id="11" name="">
            <a:extLst xmlns:a="http://schemas.openxmlformats.org/drawingml/2006/main">
              <a:ext uri="{FF2B5EF4-FFF2-40B4-BE49-F238E27FC236}">
                <a16:creationId xmlns:a16="http://schemas.microsoft.com/office/drawing/2014/main" id="{AFFD2D4C-394B-45E9-A2B6-658B1AEB0A1F}"/>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7B8190"/>
                </a:solidFill>
                <a:latin typeface="Aptos"/>
                <a:ea typeface="Aptos"/>
                <a:cs typeface="Aptos"/>
              </a:defRPr>
            </a:pPr>
            <a:r>
              <a:rPr sz="825" b="0" i="0">
                <a:solidFill>
                  <a:srgbClr val="7B8190"/>
                </a:solidFill>
                <a:latin typeface="Aptos"/>
                <a:ea typeface="Aptos"/>
                <a:cs typeface="Aptos"/>
              </a:rPr>
              <a:t>PHY formalization | 3/9</a:t>
            </a:r>
          </a:p>
        </p:txBody>
      </p:sp>
    </p:spTree>
    <p:extLst>
      <p:ext uri="{BB962C8B-B14F-4D97-AF65-F5344CB8AC3E}">
        <p14:creationId xmlns:p14="http://schemas.microsoft.com/office/powerpoint/2010/main" val="2887757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706aea5436d0412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DDC157-BC46-44AD-894C-B78F59132EBF}"/>
              </a:ext>
            </a:extLst>
          </p:cNvPr>
          <p:cNvSpPr>
            <a:spLocks xmlns:a="http://schemas.openxmlformats.org/drawingml/2006/main" noGrp="1"/>
          </p:cNvSpPr>
          <p:nvPr/>
        </p:nvSpPr>
        <p:spPr>
          <a:xfrm xmlns:a="http://schemas.openxmlformats.org/drawingml/2006/main">
            <a:off x="1066800" y="552450"/>
            <a:ext cx="7810500" cy="5143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2250" b="1" i="0">
                <a:solidFill>
                  <a:srgbClr val="111827"/>
                </a:solidFill>
                <a:latin typeface="Aptos Display"/>
                <a:ea typeface="Aptos Display"/>
                <a:cs typeface="Aptos Display"/>
              </a:defRPr>
            </a:pPr>
            <a:r>
              <a:rPr sz="2250" b="1" i="0">
                <a:solidFill>
                  <a:srgbClr val="111827"/>
                </a:solidFill>
                <a:latin typeface="Aptos Display"/>
                <a:ea typeface="Aptos Display"/>
                <a:cs typeface="Aptos Display"/>
              </a:rPr>
              <a:t>PHY position in the hierarchy</a:t>
            </a:r>
          </a:p>
        </p:txBody>
      </p:sp>
      <p:sp>
        <p:nvSpPr>
          <p:cNvPr id="3" name="">
            <a:extLst xmlns:a="http://schemas.openxmlformats.org/drawingml/2006/main">
              <a:ext uri="{FF2B5EF4-FFF2-40B4-BE49-F238E27FC236}">
                <a16:creationId xmlns:a16="http://schemas.microsoft.com/office/drawing/2014/main" id="{BEE201C0-5C61-42B5-A052-6EDCB1CD3637}"/>
              </a:ext>
            </a:extLst>
          </p:cNvPr>
          <p:cNvSpPr>
            <a:spLocks xmlns:a="http://schemas.openxmlformats.org/drawingml/2006/main" noGrp="1"/>
          </p:cNvSpPr>
          <p:nvPr/>
        </p:nvSpPr>
        <p:spPr>
          <a:xfrm xmlns:a="http://schemas.openxmlformats.org/drawingml/2006/main">
            <a:off x="1066800" y="1009650"/>
            <a:ext cx="8572500" cy="3048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125" b="0" i="0">
                <a:solidFill>
                  <a:srgbClr val="F3E8FF"/>
                </a:solidFill>
                <a:latin typeface="Aptos"/>
                <a:ea typeface="Aptos"/>
                <a:cs typeface="Aptos"/>
              </a:defRPr>
            </a:pPr>
            <a:r>
              <a:rPr sz="1125" b="0" i="0">
                <a:solidFill>
                  <a:srgbClr val="F3E8FF"/>
                </a:solidFill>
                <a:latin typeface="Aptos"/>
                <a:ea typeface="Aptos"/>
                <a:cs typeface="Aptos"/>
              </a:rPr>
              <a:t>The layer publishes classified reports upward and receives bounded control commands downward.</a:t>
            </a:r>
          </a:p>
        </p:txBody>
      </p:sp>
      <p:sp>
        <p:nvSpPr>
          <p:cNvPr id="4" name="">
            <a:extLst xmlns:a="http://schemas.openxmlformats.org/drawingml/2006/main">
              <a:ext uri="{FF2B5EF4-FFF2-40B4-BE49-F238E27FC236}">
                <a16:creationId xmlns:a16="http://schemas.microsoft.com/office/drawing/2014/main" id="{506DD795-0FA6-4A69-9A83-82C9A10E106F}"/>
              </a:ext>
            </a:extLst>
          </p:cNvPr>
          <p:cNvSpPr>
            <a:spLocks xmlns:a="http://schemas.openxmlformats.org/drawingml/2006/main" noGrp="1"/>
          </p:cNvSpPr>
          <p:nvPr/>
        </p:nvSpPr>
        <p:spPr>
          <a:xfrm xmlns:a="http://schemas.openxmlformats.org/drawingml/2006/main">
            <a:off x="1238250" y="1352550"/>
            <a:ext cx="4000500" cy="590550"/>
          </a:xfrm>
          <a:prstGeom xmlns:a="http://schemas.openxmlformats.org/drawingml/2006/main" prst="roundRect">
            <a:avLst>
              <a:gd name="adj" fmla="val 12903"/>
            </a:avLst>
          </a:prstGeom>
          <a:solidFill xmlns:a="http://schemas.openxmlformats.org/drawingml/2006/main">
            <a:srgbClr val="EAF3FF"/>
          </a:solidFill>
          <a:ln xmlns:a="http://schemas.openxmlformats.org/drawingml/2006/main" w="9525">
            <a:solidFill>
              <a:srgbClr val="B9C1D0"/>
            </a:solid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Application / Service</a:t>
            </a:r>
          </a:p>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SLA: delay, reliability, Pd, false alarm, freshness</a:t>
            </a:r>
          </a:p>
        </p:txBody>
      </p:sp>
      <p:sp>
        <p:nvSpPr>
          <p:cNvPr id="5" name="">
            <a:extLst xmlns:a="http://schemas.openxmlformats.org/drawingml/2006/main">
              <a:ext uri="{FF2B5EF4-FFF2-40B4-BE49-F238E27FC236}">
                <a16:creationId xmlns:a16="http://schemas.microsoft.com/office/drawing/2014/main" id="{5954D832-B299-4A11-BC6B-177D12AA32EC}"/>
              </a:ext>
            </a:extLst>
          </p:cNvPr>
          <p:cNvSpPr>
            <a:spLocks xmlns:a="http://schemas.openxmlformats.org/drawingml/2006/main" noGrp="1"/>
          </p:cNvSpPr>
          <p:nvPr/>
        </p:nvSpPr>
        <p:spPr>
          <a:xfrm xmlns:a="http://schemas.openxmlformats.org/drawingml/2006/main">
            <a:off x="1238250" y="2152650"/>
            <a:ext cx="4000500" cy="590550"/>
          </a:xfrm>
          <a:prstGeom xmlns:a="http://schemas.openxmlformats.org/drawingml/2006/main" prst="roundRect">
            <a:avLst>
              <a:gd name="adj" fmla="val 12903"/>
            </a:avLst>
          </a:prstGeom>
          <a:solidFill xmlns:a="http://schemas.openxmlformats.org/drawingml/2006/main">
            <a:srgbClr val="F1E8FF"/>
          </a:solidFill>
          <a:ln xmlns:a="http://schemas.openxmlformats.org/drawingml/2006/main" w="9525">
            <a:solidFill>
              <a:srgbClr val="B9C1D0"/>
            </a:solid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SDN control plane</a:t>
            </a:r>
          </a:p>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global policy, recovery and orchestration</a:t>
            </a:r>
          </a:p>
        </p:txBody>
      </p:sp>
      <p:cxnSp>
        <p:nvCxnSpPr>
          <p:cNvPr id="6" name=""/>
          <p:cNvCxnSpPr>
            <a:stCxn xmlns:a="http://schemas.openxmlformats.org/drawingml/2006/main" id="5" idx="0"/>
            <a:endCxn xmlns:a="http://schemas.openxmlformats.org/drawingml/2006/main" id="4" idx="2"/>
          </p:cNvCxnSpPr>
          <p:nvPr/>
        </p:nvCxnSpPr>
        <p:spPr>
          <a:xfrm xmlns:a="http://schemas.openxmlformats.org/drawingml/2006/main" flipV="1">
            <a:off x="3238500" y="1943100"/>
            <a:ext cx="0" cy="20955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sp>
        <p:nvSpPr>
          <p:cNvPr id="7" name="">
            <a:extLst xmlns:a="http://schemas.openxmlformats.org/drawingml/2006/main">
              <a:ext uri="{FF2B5EF4-FFF2-40B4-BE49-F238E27FC236}">
                <a16:creationId xmlns:a16="http://schemas.microsoft.com/office/drawing/2014/main" id="{643A98DC-13A8-4767-AFB0-665A393A4FF3}"/>
              </a:ext>
            </a:extLst>
          </p:cNvPr>
          <p:cNvSpPr>
            <a:spLocks xmlns:a="http://schemas.openxmlformats.org/drawingml/2006/main" noGrp="1"/>
          </p:cNvSpPr>
          <p:nvPr/>
        </p:nvSpPr>
        <p:spPr>
          <a:xfrm xmlns:a="http://schemas.openxmlformats.org/drawingml/2006/main">
            <a:off x="1238250" y="2952750"/>
            <a:ext cx="4000500" cy="590550"/>
          </a:xfrm>
          <a:prstGeom xmlns:a="http://schemas.openxmlformats.org/drawingml/2006/main" prst="roundRect">
            <a:avLst>
              <a:gd name="adj" fmla="val 12903"/>
            </a:avLst>
          </a:prstGeom>
          <a:solidFill xmlns:a="http://schemas.openxmlformats.org/drawingml/2006/main">
            <a:srgbClr val="EAF8F0"/>
          </a:solidFill>
          <a:ln xmlns:a="http://schemas.openxmlformats.org/drawingml/2006/main" w="9525">
            <a:solidFill>
              <a:srgbClr val="B9C1D0"/>
            </a:solid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MAC / resource scheduling</a:t>
            </a:r>
          </a:p>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pilots, PRS, power, MCS and beam commands</a:t>
            </a:r>
          </a:p>
        </p:txBody>
      </p:sp>
      <p:cxnSp>
        <p:nvCxnSpPr>
          <p:cNvPr id="8" name=""/>
          <p:cNvCxnSpPr>
            <a:stCxn xmlns:a="http://schemas.openxmlformats.org/drawingml/2006/main" id="7" idx="0"/>
            <a:endCxn xmlns:a="http://schemas.openxmlformats.org/drawingml/2006/main" id="5" idx="2"/>
          </p:cNvCxnSpPr>
          <p:nvPr/>
        </p:nvCxnSpPr>
        <p:spPr>
          <a:xfrm xmlns:a="http://schemas.openxmlformats.org/drawingml/2006/main" flipV="1">
            <a:off x="3238500" y="2743200"/>
            <a:ext cx="0" cy="20955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sp>
        <p:nvSpPr>
          <p:cNvPr id="9" name="">
            <a:extLst xmlns:a="http://schemas.openxmlformats.org/drawingml/2006/main">
              <a:ext uri="{FF2B5EF4-FFF2-40B4-BE49-F238E27FC236}">
                <a16:creationId xmlns:a16="http://schemas.microsoft.com/office/drawing/2014/main" id="{D6AE92D4-C98C-47FC-BD0E-EA92225CF751}"/>
              </a:ext>
            </a:extLst>
          </p:cNvPr>
          <p:cNvSpPr>
            <a:spLocks xmlns:a="http://schemas.openxmlformats.org/drawingml/2006/main" noGrp="1"/>
          </p:cNvSpPr>
          <p:nvPr/>
        </p:nvSpPr>
        <p:spPr>
          <a:xfrm xmlns:a="http://schemas.openxmlformats.org/drawingml/2006/main">
            <a:off x="1238250" y="3752850"/>
            <a:ext cx="4000500" cy="590550"/>
          </a:xfrm>
          <a:prstGeom xmlns:a="http://schemas.openxmlformats.org/drawingml/2006/main" prst="roundRect">
            <a:avLst>
              <a:gd name="adj" fmla="val 12903"/>
            </a:avLst>
          </a:prstGeom>
          <a:solidFill xmlns:a="http://schemas.openxmlformats.org/drawingml/2006/main">
            <a:srgbClr val="FFF4E1"/>
          </a:solidFill>
          <a:ln xmlns:a="http://schemas.openxmlformats.org/drawingml/2006/main" w="9525">
            <a:solidFill>
              <a:srgbClr val="B9C1D0"/>
            </a:solid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PHY abstraction layer</a:t>
            </a:r>
          </a:p>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finite KPI classes and degradation reports</a:t>
            </a:r>
          </a:p>
        </p:txBody>
      </p:sp>
      <p:cxnSp>
        <p:nvCxnSpPr>
          <p:cNvPr id="10" name=""/>
          <p:cNvCxnSpPr>
            <a:stCxn xmlns:a="http://schemas.openxmlformats.org/drawingml/2006/main" id="9" idx="0"/>
            <a:endCxn xmlns:a="http://schemas.openxmlformats.org/drawingml/2006/main" id="7" idx="2"/>
          </p:cNvCxnSpPr>
          <p:nvPr/>
        </p:nvCxnSpPr>
        <p:spPr>
          <a:xfrm xmlns:a="http://schemas.openxmlformats.org/drawingml/2006/main" flipV="1">
            <a:off x="3238500" y="3543300"/>
            <a:ext cx="0" cy="20955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sp>
        <p:nvSpPr>
          <p:cNvPr id="11" name="">
            <a:extLst xmlns:a="http://schemas.openxmlformats.org/drawingml/2006/main">
              <a:ext uri="{FF2B5EF4-FFF2-40B4-BE49-F238E27FC236}">
                <a16:creationId xmlns:a16="http://schemas.microsoft.com/office/drawing/2014/main" id="{7C2D3297-ED07-42AF-A3EC-A9C1B7ABDEAA}"/>
              </a:ext>
            </a:extLst>
          </p:cNvPr>
          <p:cNvSpPr>
            <a:spLocks xmlns:a="http://schemas.openxmlformats.org/drawingml/2006/main" noGrp="1"/>
          </p:cNvSpPr>
          <p:nvPr/>
        </p:nvSpPr>
        <p:spPr>
          <a:xfrm xmlns:a="http://schemas.openxmlformats.org/drawingml/2006/main">
            <a:off x="1238250" y="4552950"/>
            <a:ext cx="4000500" cy="590550"/>
          </a:xfrm>
          <a:prstGeom xmlns:a="http://schemas.openxmlformats.org/drawingml/2006/main" prst="roundRect">
            <a:avLst>
              <a:gd name="adj" fmla="val 12903"/>
            </a:avLst>
          </a:prstGeom>
          <a:solidFill xmlns:a="http://schemas.openxmlformats.org/drawingml/2006/main">
            <a:srgbClr val="FFEDED"/>
          </a:solidFill>
          <a:ln xmlns:a="http://schemas.openxmlformats.org/drawingml/2006/main" w="9525">
            <a:solidFill>
              <a:srgbClr val="B9C1D0"/>
            </a:solid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Environment / estimators</a:t>
            </a:r>
          </a:p>
          <a:p xmlns:a="http://schemas.openxmlformats.org/drawingml/2006/main">
            <a:pPr algn="ctr">
              <a:defRPr sz="1200" b="1" i="0">
                <a:solidFill>
                  <a:srgbClr val="111827"/>
                </a:solidFill>
                <a:latin typeface="Aptos"/>
                <a:ea typeface="Aptos"/>
                <a:cs typeface="Aptos"/>
              </a:defRPr>
            </a:pPr>
            <a:r>
              <a:rPr sz="1200" b="1" i="0">
                <a:solidFill>
                  <a:srgbClr val="111827"/>
                </a:solidFill>
                <a:latin typeface="Aptos"/>
                <a:ea typeface="Aptos"/>
                <a:cs typeface="Aptos"/>
              </a:rPr>
              <a:t>radio measurements and analytical estimates</a:t>
            </a:r>
          </a:p>
        </p:txBody>
      </p:sp>
      <p:cxnSp>
        <p:nvCxnSpPr>
          <p:cNvPr id="12" name=""/>
          <p:cNvCxnSpPr>
            <a:stCxn xmlns:a="http://schemas.openxmlformats.org/drawingml/2006/main" id="11" idx="0"/>
            <a:endCxn xmlns:a="http://schemas.openxmlformats.org/drawingml/2006/main" id="9" idx="2"/>
          </p:cNvCxnSpPr>
          <p:nvPr/>
        </p:nvCxnSpPr>
        <p:spPr>
          <a:xfrm xmlns:a="http://schemas.openxmlformats.org/drawingml/2006/main" flipV="1">
            <a:off x="3238500" y="4343400"/>
            <a:ext cx="0" cy="20955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077ee17686949fb"/>
          <a:stretch xmlns:a="http://schemas.openxmlformats.org/drawingml/2006/main"/>
        </p:blipFill>
        <p:spPr>
          <a:xfrm xmlns:a="http://schemas.openxmlformats.org/drawingml/2006/main">
            <a:off x="6249513" y="1619250"/>
            <a:ext cx="3883975" cy="2571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C66DA94-169A-40BC-A951-168D8C79C93B}"/>
              </a:ext>
            </a:extLst>
          </p:cNvPr>
          <p:cNvSpPr>
            <a:spLocks xmlns:a="http://schemas.openxmlformats.org/drawingml/2006/main" noGrp="1"/>
          </p:cNvSpPr>
          <p:nvPr/>
        </p:nvSpPr>
        <p:spPr>
          <a:xfrm xmlns:a="http://schemas.openxmlformats.org/drawingml/2006/main">
            <a:off x="6210300" y="4324350"/>
            <a:ext cx="4381500" cy="4000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ctr">
              <a:defRPr sz="1050" b="0" i="0">
                <a:solidFill>
                  <a:srgbClr val="4B5563"/>
                </a:solidFill>
                <a:latin typeface="Aptos"/>
                <a:ea typeface="Aptos"/>
                <a:cs typeface="Aptos"/>
              </a:defRPr>
            </a:pPr>
            <a:r>
              <a:rPr sz="1050" b="0" i="0">
                <a:solidFill>
                  <a:srgbClr val="4B5563"/>
                </a:solidFill>
                <a:latin typeface="Aptos"/>
                <a:ea typeface="Aptos"/>
                <a:cs typeface="Aptos"/>
              </a:rPr>
              <a:t>Fig. 1. ISAC scenario used as context: communication and sensing share the same infrastructure.</a:t>
            </a:r>
          </a:p>
        </p:txBody>
      </p:sp>
      <p:sp>
        <p:nvSpPr>
          <p:cNvPr id="15" name="">
            <a:extLst xmlns:a="http://schemas.openxmlformats.org/drawingml/2006/main">
              <a:ext uri="{FF2B5EF4-FFF2-40B4-BE49-F238E27FC236}">
                <a16:creationId xmlns:a16="http://schemas.microsoft.com/office/drawing/2014/main" id="{70681883-2492-49AF-B053-164830238EAA}"/>
              </a:ext>
            </a:extLst>
          </p:cNvPr>
          <p:cNvSpPr>
            <a:spLocks xmlns:a="http://schemas.openxmlformats.org/drawingml/2006/main" noGrp="1"/>
          </p:cNvSpPr>
          <p:nvPr/>
        </p:nvSpPr>
        <p:spPr>
          <a:xfrm xmlns:a="http://schemas.openxmlformats.org/drawingml/2006/main">
            <a:off x="5905500" y="5000625"/>
            <a:ext cx="5048250" cy="476250"/>
          </a:xfrm>
          <a:prstGeom xmlns:a="http://schemas.openxmlformats.org/drawingml/2006/main" prst="roundRect">
            <a:avLst>
              <a:gd name="adj" fmla="val 16000"/>
            </a:avLst>
          </a:prstGeom>
          <a:solidFill xmlns:a="http://schemas.openxmlformats.org/drawingml/2006/main">
            <a:srgbClr val="F4F6FB"/>
          </a:solidFill>
          <a:ln xmlns:a="http://schemas.openxmlformats.org/drawingml/2006/main" w="9525">
            <a:solidFill>
              <a:srgbClr val="CCD4E3"/>
            </a:solidFill>
            <a:prstDash val="solid"/>
          </a:ln>
        </p:spPr>
        <p:txBody>
          <a:bodyPr xmlns:a="http://schemas.openxmlformats.org/drawingml/2006/main" anchor="ctr"/>
          <a:lstStyle xmlns:a="http://schemas.openxmlformats.org/drawingml/2006/main"/>
          <a:p xmlns:a="http://schemas.openxmlformats.org/drawingml/2006/main">
            <a:pPr algn="ctr">
              <a:defRPr sz="1350" b="0" i="0">
                <a:solidFill>
                  <a:srgbClr val="111827"/>
                </a:solidFill>
                <a:latin typeface="Cambria Math"/>
                <a:ea typeface="Cambria Math"/>
                <a:cs typeface="Cambria Math"/>
              </a:defRPr>
            </a:pPr>
            <a:r>
              <a:rPr sz="1350" b="0" i="0">
                <a:solidFill>
                  <a:srgbClr val="111827"/>
                </a:solidFill>
                <a:latin typeface="Cambria Math"/>
                <a:ea typeface="Cambria Math"/>
                <a:cs typeface="Cambria Math"/>
              </a:rPr>
              <a:t>ASYS = ACH ∥ ASIG ∥ ABM ∥ ASQ ∥ APH ∥ AENV</a:t>
            </a:r>
          </a:p>
        </p:txBody>
      </p:sp>
      <p:sp>
        <p:nvSpPr>
          <p:cNvPr id="16" name="">
            <a:extLst xmlns:a="http://schemas.openxmlformats.org/drawingml/2006/main">
              <a:ext uri="{FF2B5EF4-FFF2-40B4-BE49-F238E27FC236}">
                <a16:creationId xmlns:a16="http://schemas.microsoft.com/office/drawing/2014/main" id="{4FEAEF2B-1E8F-46DE-91FC-8CF82FCFBAA7}"/>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7B8190"/>
                </a:solidFill>
                <a:latin typeface="Aptos"/>
                <a:ea typeface="Aptos"/>
                <a:cs typeface="Aptos"/>
              </a:defRPr>
            </a:pPr>
            <a:r>
              <a:rPr sz="825" b="0" i="0">
                <a:solidFill>
                  <a:srgbClr val="7B8190"/>
                </a:solidFill>
                <a:latin typeface="Aptos"/>
                <a:ea typeface="Aptos"/>
                <a:cs typeface="Aptos"/>
              </a:rPr>
              <a:t>PHY formalization | 4/9</a:t>
            </a:r>
          </a:p>
        </p:txBody>
      </p:sp>
    </p:spTree>
    <p:extLst>
      <p:ext uri="{BB962C8B-B14F-4D97-AF65-F5344CB8AC3E}">
        <p14:creationId xmlns:p14="http://schemas.microsoft.com/office/powerpoint/2010/main" val="135920655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3dd691ec635e433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0F54D3-9FF6-48AD-9FC6-52C231899967}"/>
              </a:ext>
            </a:extLst>
          </p:cNvPr>
          <p:cNvSpPr>
            <a:spLocks xmlns:a="http://schemas.openxmlformats.org/drawingml/2006/main" noGrp="1"/>
          </p:cNvSpPr>
          <p:nvPr/>
        </p:nvSpPr>
        <p:spPr>
          <a:xfrm xmlns:a="http://schemas.openxmlformats.org/drawingml/2006/main">
            <a:off x="1066800" y="552450"/>
            <a:ext cx="7810500" cy="5143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2250" b="1" i="0">
                <a:solidFill>
                  <a:srgbClr val="111827"/>
                </a:solidFill>
                <a:latin typeface="Aptos Display"/>
                <a:ea typeface="Aptos Display"/>
                <a:cs typeface="Aptos Display"/>
              </a:defRPr>
            </a:pPr>
            <a:r>
              <a:rPr sz="2250" b="1" i="0">
                <a:solidFill>
                  <a:srgbClr val="111827"/>
                </a:solidFill>
                <a:latin typeface="Aptos Display"/>
                <a:ea typeface="Aptos Display"/>
                <a:cs typeface="Aptos Display"/>
              </a:rPr>
              <a:t>Continuous PHY values are converted into finite classes</a:t>
            </a:r>
          </a:p>
        </p:txBody>
      </p:sp>
      <p:sp>
        <p:nvSpPr>
          <p:cNvPr id="3" name="">
            <a:extLst xmlns:a="http://schemas.openxmlformats.org/drawingml/2006/main">
              <a:ext uri="{FF2B5EF4-FFF2-40B4-BE49-F238E27FC236}">
                <a16:creationId xmlns:a16="http://schemas.microsoft.com/office/drawing/2014/main" id="{06EC42E8-A200-4DE4-A258-F367A72E76BA}"/>
              </a:ext>
            </a:extLst>
          </p:cNvPr>
          <p:cNvSpPr>
            <a:spLocks xmlns:a="http://schemas.openxmlformats.org/drawingml/2006/main" noGrp="1"/>
          </p:cNvSpPr>
          <p:nvPr/>
        </p:nvSpPr>
        <p:spPr>
          <a:xfrm xmlns:a="http://schemas.openxmlformats.org/drawingml/2006/main">
            <a:off x="1066800" y="1009650"/>
            <a:ext cx="8572500" cy="3048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125" b="0" i="0">
                <a:solidFill>
                  <a:srgbClr val="F3E8FF"/>
                </a:solidFill>
                <a:latin typeface="Aptos"/>
                <a:ea typeface="Aptos"/>
                <a:cs typeface="Aptos"/>
              </a:defRPr>
            </a:pPr>
            <a:r>
              <a:rPr sz="1125" b="0" i="0">
                <a:solidFill>
                  <a:srgbClr val="F3E8FF"/>
                </a:solidFill>
                <a:latin typeface="Aptos"/>
                <a:ea typeface="Aptos"/>
                <a:cs typeface="Aptos"/>
              </a:rPr>
              <a:t>Only classes enter the timed automata guards.</a:t>
            </a:r>
          </a:p>
        </p:txBody>
      </p:sp>
      <p:sp>
        <p:nvSpPr>
          <p:cNvPr id="4" name="">
            <a:extLst xmlns:a="http://schemas.openxmlformats.org/drawingml/2006/main">
              <a:ext uri="{FF2B5EF4-FFF2-40B4-BE49-F238E27FC236}">
                <a16:creationId xmlns:a16="http://schemas.microsoft.com/office/drawing/2014/main" id="{17FB7F2E-D186-4776-A842-8CEFADF43F8D}"/>
              </a:ext>
            </a:extLst>
          </p:cNvPr>
          <p:cNvSpPr>
            <a:spLocks xmlns:a="http://schemas.openxmlformats.org/drawingml/2006/main" noGrp="1"/>
          </p:cNvSpPr>
          <p:nvPr/>
        </p:nvSpPr>
        <p:spPr>
          <a:xfrm xmlns:a="http://schemas.openxmlformats.org/drawingml/2006/main">
            <a:off x="1238250" y="1428750"/>
            <a:ext cx="4095750" cy="514350"/>
          </a:xfrm>
          <a:prstGeom xmlns:a="http://schemas.openxmlformats.org/drawingml/2006/main" prst="roundRect">
            <a:avLst>
              <a:gd name="adj" fmla="val 14815"/>
            </a:avLst>
          </a:prstGeom>
          <a:solidFill xmlns:a="http://schemas.openxmlformats.org/drawingml/2006/main">
            <a:srgbClr val="F2ECFF"/>
          </a:solidFill>
          <a:ln xmlns:a="http://schemas.openxmlformats.org/drawingml/2006/main" w="9525">
            <a:solidFill>
              <a:srgbClr val="C9A7FF"/>
            </a:solidFill>
            <a:prstDash val="solid"/>
          </a:ln>
        </p:spPr>
        <p:txBody>
          <a:bodyPr xmlns:a="http://schemas.openxmlformats.org/drawingml/2006/main" anchor="ctr"/>
          <a:lstStyle xmlns:a="http://schemas.openxmlformats.org/drawingml/2006/main"/>
          <a:p xmlns:a="http://schemas.openxmlformats.org/drawingml/2006/main">
            <a:pPr algn="ctr">
              <a:defRPr sz="1650" b="0" i="0">
                <a:solidFill>
                  <a:srgbClr val="111827"/>
                </a:solidFill>
                <a:latin typeface="Cambria Math"/>
                <a:ea typeface="Cambria Math"/>
                <a:cs typeface="Cambria Math"/>
              </a:defRPr>
            </a:pPr>
            <a:r>
              <a:rPr sz="1650" b="0" i="0">
                <a:solidFill>
                  <a:srgbClr val="111827"/>
                </a:solidFill>
                <a:latin typeface="Cambria Math"/>
                <a:ea typeface="Cambria Math"/>
                <a:cs typeface="Cambria Math"/>
              </a:rPr>
              <a:t>αPHY : Xmeas × Xcfg → Xdisc</a:t>
            </a:r>
          </a:p>
        </p:txBody>
      </p:sp>
      <p:sp>
        <p:nvSpPr>
          <p:cNvPr id="5" name="">
            <a:extLst xmlns:a="http://schemas.openxmlformats.org/drawingml/2006/main">
              <a:ext uri="{FF2B5EF4-FFF2-40B4-BE49-F238E27FC236}">
                <a16:creationId xmlns:a16="http://schemas.microsoft.com/office/drawing/2014/main" id="{32B70E8D-5C90-4003-AF54-85D56F0D9267}"/>
              </a:ext>
            </a:extLst>
          </p:cNvPr>
          <p:cNvSpPr>
            <a:spLocks xmlns:a="http://schemas.openxmlformats.org/drawingml/2006/main" noGrp="1"/>
          </p:cNvSpPr>
          <p:nvPr/>
        </p:nvSpPr>
        <p:spPr>
          <a:xfrm xmlns:a="http://schemas.openxmlformats.org/drawingml/2006/main">
            <a:off x="5810250" y="1428750"/>
            <a:ext cx="4572000" cy="647700"/>
          </a:xfrm>
          <a:prstGeom xmlns:a="http://schemas.openxmlformats.org/drawingml/2006/main" prst="roundRect">
            <a:avLst>
              <a:gd name="adj" fmla="val 11765"/>
            </a:avLst>
          </a:prstGeom>
          <a:solidFill xmlns:a="http://schemas.openxmlformats.org/drawingml/2006/main">
            <a:srgbClr val="F4F6FB"/>
          </a:solidFill>
          <a:ln xmlns:a="http://schemas.openxmlformats.org/drawingml/2006/main" w="9525">
            <a:solidFill>
              <a:srgbClr val="CCD4E3"/>
            </a:solid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111827"/>
                </a:solidFill>
                <a:latin typeface="Cambria Math"/>
                <a:ea typeface="Cambria Math"/>
                <a:cs typeface="Cambria Math"/>
              </a:defRPr>
            </a:pPr>
            <a:r>
              <a:rPr sz="1125" b="0" i="0">
                <a:solidFill>
                  <a:srgbClr val="111827"/>
                </a:solidFill>
                <a:latin typeface="Cambria Math"/>
                <a:ea typeface="Cambria Math"/>
                <a:cs typeface="Cambria Math"/>
              </a:rPr>
              <a:t>SINRClass = OUTAGE if SINRc &lt; SINRout; LOW if SINRout ≤ SINRc &lt; SINRmin; OK/HIGH otherwise</a:t>
            </a:r>
          </a:p>
        </p:txBody>
      </p:sp>
      <p:sp>
        <p:nvSpPr>
          <p:cNvPr id="6" name="">
            <a:extLst xmlns:a="http://schemas.openxmlformats.org/drawingml/2006/main">
              <a:ext uri="{FF2B5EF4-FFF2-40B4-BE49-F238E27FC236}">
                <a16:creationId xmlns:a16="http://schemas.microsoft.com/office/drawing/2014/main" id="{04959A6D-A07B-4244-B24B-30463A3A6FC4}"/>
              </a:ext>
            </a:extLst>
          </p:cNvPr>
          <p:cNvSpPr>
            <a:spLocks xmlns:a="http://schemas.openxmlformats.org/drawingml/2006/main" noGrp="1"/>
          </p:cNvSpPr>
          <p:nvPr/>
        </p:nvSpPr>
        <p:spPr>
          <a:xfrm xmlns:a="http://schemas.openxmlformats.org/drawingml/2006/main">
            <a:off x="1238250" y="2571750"/>
            <a:ext cx="1619250" cy="381000"/>
          </a:xfrm>
          <a:prstGeom xmlns:a="http://schemas.openxmlformats.org/drawingml/2006/main" prst="roundRect">
            <a:avLst>
              <a:gd name="adj" fmla="val 20000"/>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FFFFF"/>
                </a:solidFill>
                <a:latin typeface="Aptos"/>
                <a:ea typeface="Aptos"/>
                <a:cs typeface="Aptos"/>
              </a:defRPr>
            </a:pPr>
            <a:r>
              <a:rPr sz="1050" b="1" i="0">
                <a:solidFill>
                  <a:srgbClr val="FFFFFF"/>
                </a:solidFill>
                <a:latin typeface="Aptos"/>
                <a:ea typeface="Aptos"/>
                <a:cs typeface="Aptos"/>
              </a:rPr>
              <a:t>Component</a:t>
            </a:r>
          </a:p>
        </p:txBody>
      </p:sp>
      <p:sp>
        <p:nvSpPr>
          <p:cNvPr id="7" name="">
            <a:extLst xmlns:a="http://schemas.openxmlformats.org/drawingml/2006/main">
              <a:ext uri="{FF2B5EF4-FFF2-40B4-BE49-F238E27FC236}">
                <a16:creationId xmlns:a16="http://schemas.microsoft.com/office/drawing/2014/main" id="{C4ED0B30-6F87-42F1-AF20-C9BA67078990}"/>
              </a:ext>
            </a:extLst>
          </p:cNvPr>
          <p:cNvSpPr>
            <a:spLocks xmlns:a="http://schemas.openxmlformats.org/drawingml/2006/main" noGrp="1"/>
          </p:cNvSpPr>
          <p:nvPr/>
        </p:nvSpPr>
        <p:spPr>
          <a:xfrm xmlns:a="http://schemas.openxmlformats.org/drawingml/2006/main">
            <a:off x="2857500" y="2571750"/>
            <a:ext cx="4762500" cy="381000"/>
          </a:xfrm>
          <a:prstGeom xmlns:a="http://schemas.openxmlformats.org/drawingml/2006/main" prst="roundRect">
            <a:avLst>
              <a:gd name="adj" fmla="val 20000"/>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FFFFF"/>
                </a:solidFill>
                <a:latin typeface="Aptos"/>
                <a:ea typeface="Aptos"/>
                <a:cs typeface="Aptos"/>
              </a:defRPr>
            </a:pPr>
            <a:r>
              <a:rPr sz="1050" b="1" i="0">
                <a:solidFill>
                  <a:srgbClr val="FFFFFF"/>
                </a:solidFill>
                <a:latin typeface="Aptos"/>
                <a:ea typeface="Aptos"/>
                <a:cs typeface="Aptos"/>
              </a:rPr>
              <a:t>Main classes</a:t>
            </a:r>
          </a:p>
        </p:txBody>
      </p:sp>
      <p:sp>
        <p:nvSpPr>
          <p:cNvPr id="8" name="">
            <a:extLst xmlns:a="http://schemas.openxmlformats.org/drawingml/2006/main">
              <a:ext uri="{FF2B5EF4-FFF2-40B4-BE49-F238E27FC236}">
                <a16:creationId xmlns:a16="http://schemas.microsoft.com/office/drawing/2014/main" id="{3654A913-7910-4709-BA63-F16AE9868F4E}"/>
              </a:ext>
            </a:extLst>
          </p:cNvPr>
          <p:cNvSpPr>
            <a:spLocks xmlns:a="http://schemas.openxmlformats.org/drawingml/2006/main" noGrp="1"/>
          </p:cNvSpPr>
          <p:nvPr/>
        </p:nvSpPr>
        <p:spPr>
          <a:xfrm xmlns:a="http://schemas.openxmlformats.org/drawingml/2006/main">
            <a:off x="7620000" y="2571750"/>
            <a:ext cx="2571750" cy="381000"/>
          </a:xfrm>
          <a:prstGeom xmlns:a="http://schemas.openxmlformats.org/drawingml/2006/main" prst="roundRect">
            <a:avLst>
              <a:gd name="adj" fmla="val 20000"/>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FFFFF"/>
                </a:solidFill>
                <a:latin typeface="Aptos"/>
                <a:ea typeface="Aptos"/>
                <a:cs typeface="Aptos"/>
              </a:defRPr>
            </a:pPr>
            <a:r>
              <a:rPr sz="1050" b="1" i="0">
                <a:solidFill>
                  <a:srgbClr val="FFFFFF"/>
                </a:solidFill>
                <a:latin typeface="Aptos"/>
                <a:ea typeface="Aptos"/>
                <a:cs typeface="Aptos"/>
              </a:rPr>
              <a:t>Meaning for guards</a:t>
            </a:r>
          </a:p>
        </p:txBody>
      </p:sp>
      <p:sp>
        <p:nvSpPr>
          <p:cNvPr id="9" name="">
            <a:extLst xmlns:a="http://schemas.openxmlformats.org/drawingml/2006/main">
              <a:ext uri="{FF2B5EF4-FFF2-40B4-BE49-F238E27FC236}">
                <a16:creationId xmlns:a16="http://schemas.microsoft.com/office/drawing/2014/main" id="{46C528D7-84F2-4BFD-B8C6-05021BFF3A6D}"/>
              </a:ext>
            </a:extLst>
          </p:cNvPr>
          <p:cNvSpPr>
            <a:spLocks xmlns:a="http://schemas.openxmlformats.org/drawingml/2006/main" noGrp="1"/>
          </p:cNvSpPr>
          <p:nvPr/>
        </p:nvSpPr>
        <p:spPr>
          <a:xfrm xmlns:a="http://schemas.openxmlformats.org/drawingml/2006/main">
            <a:off x="1238250" y="2952750"/>
            <a:ext cx="1619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Aptos"/>
                <a:ea typeface="Aptos"/>
                <a:cs typeface="Aptos"/>
              </a:defRPr>
            </a:pPr>
            <a:r>
              <a:rPr sz="975" b="0" i="0">
                <a:solidFill>
                  <a:srgbClr val="111827"/>
                </a:solidFill>
                <a:latin typeface="Aptos"/>
                <a:ea typeface="Aptos"/>
                <a:cs typeface="Aptos"/>
              </a:rPr>
              <a:t>Channel</a:t>
            </a:r>
          </a:p>
        </p:txBody>
      </p:sp>
      <p:sp>
        <p:nvSpPr>
          <p:cNvPr id="10" name="">
            <a:extLst xmlns:a="http://schemas.openxmlformats.org/drawingml/2006/main">
              <a:ext uri="{FF2B5EF4-FFF2-40B4-BE49-F238E27FC236}">
                <a16:creationId xmlns:a16="http://schemas.microsoft.com/office/drawing/2014/main" id="{E3BBF1C6-122F-41F0-99D2-1F4152F323A5}"/>
              </a:ext>
            </a:extLst>
          </p:cNvPr>
          <p:cNvSpPr>
            <a:spLocks xmlns:a="http://schemas.openxmlformats.org/drawingml/2006/main" noGrp="1"/>
          </p:cNvSpPr>
          <p:nvPr/>
        </p:nvSpPr>
        <p:spPr>
          <a:xfrm xmlns:a="http://schemas.openxmlformats.org/drawingml/2006/main">
            <a:off x="2857500" y="2952750"/>
            <a:ext cx="47625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00" b="0" i="0">
                <a:solidFill>
                  <a:srgbClr val="111827"/>
                </a:solidFill>
                <a:latin typeface="Aptos"/>
                <a:ea typeface="Aptos"/>
                <a:cs typeface="Aptos"/>
              </a:defRPr>
            </a:pPr>
            <a:r>
              <a:rPr sz="900" b="0" i="0">
                <a:solidFill>
                  <a:srgbClr val="111827"/>
                </a:solidFill>
                <a:latin typeface="Aptos"/>
                <a:ea typeface="Aptos"/>
                <a:cs typeface="Aptos"/>
              </a:rPr>
              <a:t>NOMINAL, INTERFERENCE, MOBILITY, MULTIPATH, BLOCKAGE, OUTAGE</a:t>
            </a:r>
          </a:p>
        </p:txBody>
      </p:sp>
      <p:sp>
        <p:nvSpPr>
          <p:cNvPr id="11" name="">
            <a:extLst xmlns:a="http://schemas.openxmlformats.org/drawingml/2006/main">
              <a:ext uri="{FF2B5EF4-FFF2-40B4-BE49-F238E27FC236}">
                <a16:creationId xmlns:a16="http://schemas.microsoft.com/office/drawing/2014/main" id="{6661721B-5BFC-4FEA-BB7A-8B884F180DB2}"/>
              </a:ext>
            </a:extLst>
          </p:cNvPr>
          <p:cNvSpPr>
            <a:spLocks xmlns:a="http://schemas.openxmlformats.org/drawingml/2006/main" noGrp="1"/>
          </p:cNvSpPr>
          <p:nvPr/>
        </p:nvSpPr>
        <p:spPr>
          <a:xfrm xmlns:a="http://schemas.openxmlformats.org/drawingml/2006/main">
            <a:off x="7620000" y="2952750"/>
            <a:ext cx="25717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Aptos"/>
                <a:ea typeface="Aptos"/>
                <a:cs typeface="Aptos"/>
              </a:defRPr>
            </a:pPr>
            <a:r>
              <a:rPr sz="975" b="0" i="0">
                <a:solidFill>
                  <a:srgbClr val="111827"/>
                </a:solidFill>
                <a:latin typeface="Aptos"/>
                <a:ea typeface="Aptos"/>
                <a:cs typeface="Aptos"/>
              </a:rPr>
              <a:t>communication condition</a:t>
            </a:r>
          </a:p>
        </p:txBody>
      </p:sp>
      <p:sp>
        <p:nvSpPr>
          <p:cNvPr id="12" name="">
            <a:extLst xmlns:a="http://schemas.openxmlformats.org/drawingml/2006/main">
              <a:ext uri="{FF2B5EF4-FFF2-40B4-BE49-F238E27FC236}">
                <a16:creationId xmlns:a16="http://schemas.microsoft.com/office/drawing/2014/main" id="{EA977CCD-B5BB-495B-868C-75F0BDDA3BF3}"/>
              </a:ext>
            </a:extLst>
          </p:cNvPr>
          <p:cNvSpPr>
            <a:spLocks xmlns:a="http://schemas.openxmlformats.org/drawingml/2006/main" noGrp="1"/>
          </p:cNvSpPr>
          <p:nvPr/>
        </p:nvSpPr>
        <p:spPr>
          <a:xfrm xmlns:a="http://schemas.openxmlformats.org/drawingml/2006/main">
            <a:off x="1238250" y="3505200"/>
            <a:ext cx="1619250" cy="552450"/>
          </a:xfrm>
          <a:prstGeom xmlns:a="http://schemas.openxmlformats.org/drawingml/2006/main" prst="roundRect">
            <a:avLst>
              <a:gd name="adj" fmla="val 13793"/>
            </a:avLst>
          </a:prstGeom>
          <a:solidFill xmlns:a="http://schemas.openxmlformats.org/drawingml/2006/main">
            <a:srgbClr val="FAFB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Aptos"/>
                <a:ea typeface="Aptos"/>
                <a:cs typeface="Aptos"/>
              </a:defRPr>
            </a:pPr>
            <a:r>
              <a:rPr sz="975" b="0" i="0">
                <a:solidFill>
                  <a:srgbClr val="111827"/>
                </a:solidFill>
                <a:latin typeface="Aptos"/>
                <a:ea typeface="Aptos"/>
                <a:cs typeface="Aptos"/>
              </a:rPr>
              <a:t>Signal</a:t>
            </a:r>
          </a:p>
        </p:txBody>
      </p:sp>
      <p:sp>
        <p:nvSpPr>
          <p:cNvPr id="13" name="">
            <a:extLst xmlns:a="http://schemas.openxmlformats.org/drawingml/2006/main">
              <a:ext uri="{FF2B5EF4-FFF2-40B4-BE49-F238E27FC236}">
                <a16:creationId xmlns:a16="http://schemas.microsoft.com/office/drawing/2014/main" id="{D7DB1888-31BE-43D3-8406-C5AE117DCA8F}"/>
              </a:ext>
            </a:extLst>
          </p:cNvPr>
          <p:cNvSpPr>
            <a:spLocks xmlns:a="http://schemas.openxmlformats.org/drawingml/2006/main" noGrp="1"/>
          </p:cNvSpPr>
          <p:nvPr/>
        </p:nvSpPr>
        <p:spPr>
          <a:xfrm xmlns:a="http://schemas.openxmlformats.org/drawingml/2006/main">
            <a:off x="2857500" y="3505200"/>
            <a:ext cx="4762500" cy="552450"/>
          </a:xfrm>
          <a:prstGeom xmlns:a="http://schemas.openxmlformats.org/drawingml/2006/main" prst="roundRect">
            <a:avLst>
              <a:gd name="adj" fmla="val 13793"/>
            </a:avLst>
          </a:prstGeom>
          <a:solidFill xmlns:a="http://schemas.openxmlformats.org/drawingml/2006/main">
            <a:srgbClr val="FAFB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00" b="0" i="0">
                <a:solidFill>
                  <a:srgbClr val="111827"/>
                </a:solidFill>
                <a:latin typeface="Aptos"/>
                <a:ea typeface="Aptos"/>
                <a:cs typeface="Aptos"/>
              </a:defRPr>
            </a:pPr>
            <a:r>
              <a:rPr sz="900" b="0" i="0">
                <a:solidFill>
                  <a:srgbClr val="111827"/>
                </a:solidFill>
                <a:latin typeface="Aptos"/>
                <a:ea typeface="Aptos"/>
                <a:cs typeface="Aptos"/>
              </a:rPr>
              <a:t>PILOT_BASED, PAYLOAD_ASSISTED, RECONFIGURING, LIMITED</a:t>
            </a:r>
          </a:p>
        </p:txBody>
      </p:sp>
      <p:sp>
        <p:nvSpPr>
          <p:cNvPr id="14" name="">
            <a:extLst xmlns:a="http://schemas.openxmlformats.org/drawingml/2006/main">
              <a:ext uri="{FF2B5EF4-FFF2-40B4-BE49-F238E27FC236}">
                <a16:creationId xmlns:a16="http://schemas.microsoft.com/office/drawing/2014/main" id="{43A3F122-B507-4159-BCED-96BFA6B75CF1}"/>
              </a:ext>
            </a:extLst>
          </p:cNvPr>
          <p:cNvSpPr>
            <a:spLocks xmlns:a="http://schemas.openxmlformats.org/drawingml/2006/main" noGrp="1"/>
          </p:cNvSpPr>
          <p:nvPr/>
        </p:nvSpPr>
        <p:spPr>
          <a:xfrm xmlns:a="http://schemas.openxmlformats.org/drawingml/2006/main">
            <a:off x="7620000" y="3505200"/>
            <a:ext cx="2571750" cy="552450"/>
          </a:xfrm>
          <a:prstGeom xmlns:a="http://schemas.openxmlformats.org/drawingml/2006/main" prst="roundRect">
            <a:avLst>
              <a:gd name="adj" fmla="val 13793"/>
            </a:avLst>
          </a:prstGeom>
          <a:solidFill xmlns:a="http://schemas.openxmlformats.org/drawingml/2006/main">
            <a:srgbClr val="FAFB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Aptos"/>
                <a:ea typeface="Aptos"/>
                <a:cs typeface="Aptos"/>
              </a:defRPr>
            </a:pPr>
            <a:r>
              <a:rPr sz="975" b="0" i="0">
                <a:solidFill>
                  <a:srgbClr val="111827"/>
                </a:solidFill>
                <a:latin typeface="Aptos"/>
                <a:ea typeface="Aptos"/>
                <a:cs typeface="Aptos"/>
              </a:rPr>
              <a:t>available signal mode</a:t>
            </a:r>
          </a:p>
        </p:txBody>
      </p:sp>
      <p:sp>
        <p:nvSpPr>
          <p:cNvPr id="15" name="">
            <a:extLst xmlns:a="http://schemas.openxmlformats.org/drawingml/2006/main">
              <a:ext uri="{FF2B5EF4-FFF2-40B4-BE49-F238E27FC236}">
                <a16:creationId xmlns:a16="http://schemas.microsoft.com/office/drawing/2014/main" id="{5D115EF1-CD48-4442-86D7-DEAFD077B19A}"/>
              </a:ext>
            </a:extLst>
          </p:cNvPr>
          <p:cNvSpPr>
            <a:spLocks xmlns:a="http://schemas.openxmlformats.org/drawingml/2006/main" noGrp="1"/>
          </p:cNvSpPr>
          <p:nvPr/>
        </p:nvSpPr>
        <p:spPr>
          <a:xfrm xmlns:a="http://schemas.openxmlformats.org/drawingml/2006/main">
            <a:off x="1238250" y="4057650"/>
            <a:ext cx="1619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Aptos"/>
                <a:ea typeface="Aptos"/>
                <a:cs typeface="Aptos"/>
              </a:defRPr>
            </a:pPr>
            <a:r>
              <a:rPr sz="975" b="0" i="0">
                <a:solidFill>
                  <a:srgbClr val="111827"/>
                </a:solidFill>
                <a:latin typeface="Aptos"/>
                <a:ea typeface="Aptos"/>
                <a:cs typeface="Aptos"/>
              </a:rPr>
              <a:t>Beam</a:t>
            </a:r>
          </a:p>
        </p:txBody>
      </p:sp>
      <p:sp>
        <p:nvSpPr>
          <p:cNvPr id="16" name="">
            <a:extLst xmlns:a="http://schemas.openxmlformats.org/drawingml/2006/main">
              <a:ext uri="{FF2B5EF4-FFF2-40B4-BE49-F238E27FC236}">
                <a16:creationId xmlns:a16="http://schemas.microsoft.com/office/drawing/2014/main" id="{DDF3DA3D-EDB8-498D-A6E4-3507218F2A99}"/>
              </a:ext>
            </a:extLst>
          </p:cNvPr>
          <p:cNvSpPr>
            <a:spLocks xmlns:a="http://schemas.openxmlformats.org/drawingml/2006/main" noGrp="1"/>
          </p:cNvSpPr>
          <p:nvPr/>
        </p:nvSpPr>
        <p:spPr>
          <a:xfrm xmlns:a="http://schemas.openxmlformats.org/drawingml/2006/main">
            <a:off x="2857500" y="4057650"/>
            <a:ext cx="47625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00" b="0" i="0">
                <a:solidFill>
                  <a:srgbClr val="111827"/>
                </a:solidFill>
                <a:latin typeface="Aptos"/>
                <a:ea typeface="Aptos"/>
                <a:cs typeface="Aptos"/>
              </a:defRPr>
            </a:pPr>
            <a:r>
              <a:rPr sz="900" b="0" i="0">
                <a:solidFill>
                  <a:srgbClr val="111827"/>
                </a:solidFill>
                <a:latin typeface="Aptos"/>
                <a:ea typeface="Aptos"/>
                <a:cs typeface="Aptos"/>
              </a:rPr>
              <a:t>SEARCH, TRACK, LOCKED, MISALIGNED, RECOVERING, FAILED</a:t>
            </a:r>
          </a:p>
        </p:txBody>
      </p:sp>
      <p:sp>
        <p:nvSpPr>
          <p:cNvPr id="17" name="">
            <a:extLst xmlns:a="http://schemas.openxmlformats.org/drawingml/2006/main">
              <a:ext uri="{FF2B5EF4-FFF2-40B4-BE49-F238E27FC236}">
                <a16:creationId xmlns:a16="http://schemas.microsoft.com/office/drawing/2014/main" id="{0B60B840-BBA6-4968-898E-11E444D3DD42}"/>
              </a:ext>
            </a:extLst>
          </p:cNvPr>
          <p:cNvSpPr>
            <a:spLocks xmlns:a="http://schemas.openxmlformats.org/drawingml/2006/main" noGrp="1"/>
          </p:cNvSpPr>
          <p:nvPr/>
        </p:nvSpPr>
        <p:spPr>
          <a:xfrm xmlns:a="http://schemas.openxmlformats.org/drawingml/2006/main">
            <a:off x="7620000" y="4057650"/>
            <a:ext cx="25717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Aptos"/>
                <a:ea typeface="Aptos"/>
                <a:cs typeface="Aptos"/>
              </a:defRPr>
            </a:pPr>
            <a:r>
              <a:rPr sz="975" b="0" i="0">
                <a:solidFill>
                  <a:srgbClr val="111827"/>
                </a:solidFill>
                <a:latin typeface="Aptos"/>
                <a:ea typeface="Aptos"/>
                <a:cs typeface="Aptos"/>
              </a:rPr>
              <a:t>spatial alignment state</a:t>
            </a:r>
          </a:p>
        </p:txBody>
      </p:sp>
      <p:sp>
        <p:nvSpPr>
          <p:cNvPr id="18" name="">
            <a:extLst xmlns:a="http://schemas.openxmlformats.org/drawingml/2006/main">
              <a:ext uri="{FF2B5EF4-FFF2-40B4-BE49-F238E27FC236}">
                <a16:creationId xmlns:a16="http://schemas.microsoft.com/office/drawing/2014/main" id="{014F8AE4-1F23-430E-9FFD-B799497C2CD9}"/>
              </a:ext>
            </a:extLst>
          </p:cNvPr>
          <p:cNvSpPr>
            <a:spLocks xmlns:a="http://schemas.openxmlformats.org/drawingml/2006/main" noGrp="1"/>
          </p:cNvSpPr>
          <p:nvPr/>
        </p:nvSpPr>
        <p:spPr>
          <a:xfrm xmlns:a="http://schemas.openxmlformats.org/drawingml/2006/main">
            <a:off x="1238250" y="4610100"/>
            <a:ext cx="1619250" cy="552450"/>
          </a:xfrm>
          <a:prstGeom xmlns:a="http://schemas.openxmlformats.org/drawingml/2006/main" prst="roundRect">
            <a:avLst>
              <a:gd name="adj" fmla="val 13793"/>
            </a:avLst>
          </a:prstGeom>
          <a:solidFill xmlns:a="http://schemas.openxmlformats.org/drawingml/2006/main">
            <a:srgbClr val="FAFB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Aptos"/>
                <a:ea typeface="Aptos"/>
                <a:cs typeface="Aptos"/>
              </a:defRPr>
            </a:pPr>
            <a:r>
              <a:rPr sz="975" b="0" i="0">
                <a:solidFill>
                  <a:srgbClr val="111827"/>
                </a:solidFill>
                <a:latin typeface="Aptos"/>
                <a:ea typeface="Aptos"/>
                <a:cs typeface="Aptos"/>
              </a:rPr>
              <a:t>Sensing</a:t>
            </a:r>
          </a:p>
        </p:txBody>
      </p:sp>
      <p:sp>
        <p:nvSpPr>
          <p:cNvPr id="19" name="">
            <a:extLst xmlns:a="http://schemas.openxmlformats.org/drawingml/2006/main">
              <a:ext uri="{FF2B5EF4-FFF2-40B4-BE49-F238E27FC236}">
                <a16:creationId xmlns:a16="http://schemas.microsoft.com/office/drawing/2014/main" id="{3F01EE53-68EB-4B2A-B8CE-9C17361CC431}"/>
              </a:ext>
            </a:extLst>
          </p:cNvPr>
          <p:cNvSpPr>
            <a:spLocks xmlns:a="http://schemas.openxmlformats.org/drawingml/2006/main" noGrp="1"/>
          </p:cNvSpPr>
          <p:nvPr/>
        </p:nvSpPr>
        <p:spPr>
          <a:xfrm xmlns:a="http://schemas.openxmlformats.org/drawingml/2006/main">
            <a:off x="2857500" y="4610100"/>
            <a:ext cx="4762500" cy="552450"/>
          </a:xfrm>
          <a:prstGeom xmlns:a="http://schemas.openxmlformats.org/drawingml/2006/main" prst="roundRect">
            <a:avLst>
              <a:gd name="adj" fmla="val 13793"/>
            </a:avLst>
          </a:prstGeom>
          <a:solidFill xmlns:a="http://schemas.openxmlformats.org/drawingml/2006/main">
            <a:srgbClr val="FAFB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00" b="0" i="0">
                <a:solidFill>
                  <a:srgbClr val="111827"/>
                </a:solidFill>
                <a:latin typeface="Aptos"/>
                <a:ea typeface="Aptos"/>
                <a:cs typeface="Aptos"/>
              </a:defRPr>
            </a:pPr>
            <a:r>
              <a:rPr sz="900" b="0" i="0">
                <a:solidFill>
                  <a:srgbClr val="111827"/>
                </a:solidFill>
                <a:latin typeface="Aptos"/>
                <a:ea typeface="Aptos"/>
                <a:cs typeface="Aptos"/>
              </a:rPr>
              <a:t>QoSOk, ProbabilityLimited, FalseAlarmLimited, FreshnessLimited, Failure</a:t>
            </a:r>
          </a:p>
        </p:txBody>
      </p:sp>
      <p:sp>
        <p:nvSpPr>
          <p:cNvPr id="20" name="">
            <a:extLst xmlns:a="http://schemas.openxmlformats.org/drawingml/2006/main">
              <a:ext uri="{FF2B5EF4-FFF2-40B4-BE49-F238E27FC236}">
                <a16:creationId xmlns:a16="http://schemas.microsoft.com/office/drawing/2014/main" id="{250F1DB9-298B-45E6-9E0B-4943465E68A6}"/>
              </a:ext>
            </a:extLst>
          </p:cNvPr>
          <p:cNvSpPr>
            <a:spLocks xmlns:a="http://schemas.openxmlformats.org/drawingml/2006/main" noGrp="1"/>
          </p:cNvSpPr>
          <p:nvPr/>
        </p:nvSpPr>
        <p:spPr>
          <a:xfrm xmlns:a="http://schemas.openxmlformats.org/drawingml/2006/main">
            <a:off x="7620000" y="4610100"/>
            <a:ext cx="2571750" cy="552450"/>
          </a:xfrm>
          <a:prstGeom xmlns:a="http://schemas.openxmlformats.org/drawingml/2006/main" prst="roundRect">
            <a:avLst>
              <a:gd name="adj" fmla="val 13793"/>
            </a:avLst>
          </a:prstGeom>
          <a:solidFill xmlns:a="http://schemas.openxmlformats.org/drawingml/2006/main">
            <a:srgbClr val="FAFBFF"/>
          </a:solidFill>
          <a:ln xmlns:a="http://schemas.openxmlformats.org/drawingml/2006/main" w="9525">
            <a:solidFill>
              <a:srgbClr val="D8DEEA"/>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Aptos"/>
                <a:ea typeface="Aptos"/>
                <a:cs typeface="Aptos"/>
              </a:defRPr>
            </a:pPr>
            <a:r>
              <a:rPr sz="975" b="0" i="0">
                <a:solidFill>
                  <a:srgbClr val="111827"/>
                </a:solidFill>
                <a:latin typeface="Aptos"/>
                <a:ea typeface="Aptos"/>
                <a:cs typeface="Aptos"/>
              </a:rPr>
              <a:t>sensing quality state</a:t>
            </a:r>
          </a:p>
        </p:txBody>
      </p:sp>
      <p:sp>
        <p:nvSpPr>
          <p:cNvPr id="21" name="">
            <a:extLst xmlns:a="http://schemas.openxmlformats.org/drawingml/2006/main">
              <a:ext uri="{FF2B5EF4-FFF2-40B4-BE49-F238E27FC236}">
                <a16:creationId xmlns:a16="http://schemas.microsoft.com/office/drawing/2014/main" id="{D7B45F3F-6E6A-46FB-A2A8-E8EF82F0731E}"/>
              </a:ext>
            </a:extLst>
          </p:cNvPr>
          <p:cNvSpPr>
            <a:spLocks xmlns:a="http://schemas.openxmlformats.org/drawingml/2006/main" noGrp="1"/>
          </p:cNvSpPr>
          <p:nvPr/>
        </p:nvSpPr>
        <p:spPr>
          <a:xfrm xmlns:a="http://schemas.openxmlformats.org/drawingml/2006/main">
            <a:off x="1390650" y="5219700"/>
            <a:ext cx="8763000" cy="3429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ctr">
              <a:defRPr sz="1350" b="1" i="0">
                <a:solidFill>
                  <a:srgbClr val="D64242"/>
                </a:solidFill>
                <a:latin typeface="Aptos"/>
                <a:ea typeface="Aptos"/>
                <a:cs typeface="Aptos"/>
              </a:defRPr>
            </a:pPr>
            <a:r>
              <a:rPr sz="1350" b="1" i="0">
                <a:solidFill>
                  <a:srgbClr val="D64242"/>
                </a:solidFill>
                <a:latin typeface="Aptos"/>
                <a:ea typeface="Aptos"/>
                <a:cs typeface="Aptos"/>
              </a:rPr>
              <a:t>Conservative rule: boundary and uncertain measurements are mapped to the worse neighboring class.</a:t>
            </a:r>
          </a:p>
        </p:txBody>
      </p:sp>
      <p:sp>
        <p:nvSpPr>
          <p:cNvPr id="22" name="">
            <a:extLst xmlns:a="http://schemas.openxmlformats.org/drawingml/2006/main">
              <a:ext uri="{FF2B5EF4-FFF2-40B4-BE49-F238E27FC236}">
                <a16:creationId xmlns:a16="http://schemas.microsoft.com/office/drawing/2014/main" id="{23FFD94F-9681-4BC2-BE71-3A05C282273B}"/>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7B8190"/>
                </a:solidFill>
                <a:latin typeface="Aptos"/>
                <a:ea typeface="Aptos"/>
                <a:cs typeface="Aptos"/>
              </a:defRPr>
            </a:pPr>
            <a:r>
              <a:rPr sz="825" b="0" i="0">
                <a:solidFill>
                  <a:srgbClr val="7B8190"/>
                </a:solidFill>
                <a:latin typeface="Aptos"/>
                <a:ea typeface="Aptos"/>
                <a:cs typeface="Aptos"/>
              </a:rPr>
              <a:t>PHY formalization | 5/9</a:t>
            </a:r>
          </a:p>
        </p:txBody>
      </p:sp>
    </p:spTree>
    <p:extLst>
      <p:ext uri="{BB962C8B-B14F-4D97-AF65-F5344CB8AC3E}">
        <p14:creationId xmlns:p14="http://schemas.microsoft.com/office/powerpoint/2010/main" val="59388640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ae0c6583960946c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3A2CEA-67D2-4A2F-9156-FA7A55772A39}"/>
              </a:ext>
            </a:extLst>
          </p:cNvPr>
          <p:cNvSpPr>
            <a:spLocks xmlns:a="http://schemas.openxmlformats.org/drawingml/2006/main" noGrp="1"/>
          </p:cNvSpPr>
          <p:nvPr/>
        </p:nvSpPr>
        <p:spPr>
          <a:xfrm xmlns:a="http://schemas.openxmlformats.org/drawingml/2006/main">
            <a:off x="1066800" y="552450"/>
            <a:ext cx="7810500" cy="5143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2250" b="1" i="0">
                <a:solidFill>
                  <a:srgbClr val="111827"/>
                </a:solidFill>
                <a:latin typeface="Aptos Display"/>
                <a:ea typeface="Aptos Display"/>
                <a:cs typeface="Aptos Display"/>
              </a:defRPr>
            </a:pPr>
            <a:r>
              <a:rPr sz="2250" b="1" i="0">
                <a:solidFill>
                  <a:srgbClr val="111827"/>
                </a:solidFill>
                <a:latin typeface="Aptos Display"/>
                <a:ea typeface="Aptos Display"/>
                <a:cs typeface="Aptos Display"/>
              </a:rPr>
              <a:t>Contract automata of the PHY layer</a:t>
            </a:r>
          </a:p>
        </p:txBody>
      </p:sp>
      <p:sp>
        <p:nvSpPr>
          <p:cNvPr id="3" name="">
            <a:extLst xmlns:a="http://schemas.openxmlformats.org/drawingml/2006/main">
              <a:ext uri="{FF2B5EF4-FFF2-40B4-BE49-F238E27FC236}">
                <a16:creationId xmlns:a16="http://schemas.microsoft.com/office/drawing/2014/main" id="{18A8A512-8860-40F0-855D-684A8AD089D8}"/>
              </a:ext>
            </a:extLst>
          </p:cNvPr>
          <p:cNvSpPr>
            <a:spLocks xmlns:a="http://schemas.openxmlformats.org/drawingml/2006/main" noGrp="1"/>
          </p:cNvSpPr>
          <p:nvPr/>
        </p:nvSpPr>
        <p:spPr>
          <a:xfrm xmlns:a="http://schemas.openxmlformats.org/drawingml/2006/main">
            <a:off x="1066800" y="1009650"/>
            <a:ext cx="8572500" cy="3048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125" b="0" i="0">
                <a:solidFill>
                  <a:srgbClr val="F3E8FF"/>
                </a:solidFill>
                <a:latin typeface="Aptos"/>
                <a:ea typeface="Aptos"/>
                <a:cs typeface="Aptos"/>
              </a:defRPr>
            </a:pPr>
            <a:r>
              <a:rPr sz="1125" b="0" i="0">
                <a:solidFill>
                  <a:srgbClr val="F3E8FF"/>
                </a:solidFill>
                <a:latin typeface="Aptos"/>
                <a:ea typeface="Aptos"/>
                <a:cs typeface="Aptos"/>
              </a:rPr>
              <a:t>The aggregate automaton reads child reports and publishes one PHY state.</a:t>
            </a:r>
          </a:p>
        </p:txBody>
      </p:sp>
      <p:sp>
        <p:nvSpPr>
          <p:cNvPr id="4" name="">
            <a:extLst xmlns:a="http://schemas.openxmlformats.org/drawingml/2006/main">
              <a:ext uri="{FF2B5EF4-FFF2-40B4-BE49-F238E27FC236}">
                <a16:creationId xmlns:a16="http://schemas.microsoft.com/office/drawing/2014/main" id="{48D4A69B-6AFC-4A0C-A180-D4C62A2DDB90}"/>
              </a:ext>
            </a:extLst>
          </p:cNvPr>
          <p:cNvSpPr>
            <a:spLocks xmlns:a="http://schemas.openxmlformats.org/drawingml/2006/main" noGrp="1"/>
          </p:cNvSpPr>
          <p:nvPr/>
        </p:nvSpPr>
        <p:spPr>
          <a:xfrm xmlns:a="http://schemas.openxmlformats.org/drawingml/2006/main">
            <a:off x="1352550" y="1666875"/>
            <a:ext cx="1428750" cy="742950"/>
          </a:xfrm>
          <a:prstGeom xmlns:a="http://schemas.openxmlformats.org/drawingml/2006/main" prst="roundRect">
            <a:avLst>
              <a:gd name="adj" fmla="val 10256"/>
            </a:avLst>
          </a:prstGeom>
          <a:solidFill xmlns:a="http://schemas.openxmlformats.org/drawingml/2006/main">
            <a:srgbClr val="EAF3FF"/>
          </a:solidFill>
          <a:ln xmlns:a="http://schemas.openxmlformats.org/drawingml/2006/main" w="9525">
            <a:solidFill>
              <a:srgbClr val="8FB8FF"/>
            </a:solid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ACH</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channel</a:t>
            </a:r>
          </a:p>
        </p:txBody>
      </p:sp>
      <p:sp>
        <p:nvSpPr>
          <p:cNvPr id="5" name="">
            <a:extLst xmlns:a="http://schemas.openxmlformats.org/drawingml/2006/main">
              <a:ext uri="{FF2B5EF4-FFF2-40B4-BE49-F238E27FC236}">
                <a16:creationId xmlns:a16="http://schemas.microsoft.com/office/drawing/2014/main" id="{828854E8-DBF3-4C4B-BBA7-DAD6161E0213}"/>
              </a:ext>
            </a:extLst>
          </p:cNvPr>
          <p:cNvSpPr>
            <a:spLocks xmlns:a="http://schemas.openxmlformats.org/drawingml/2006/main" noGrp="1"/>
          </p:cNvSpPr>
          <p:nvPr/>
        </p:nvSpPr>
        <p:spPr>
          <a:xfrm xmlns:a="http://schemas.openxmlformats.org/drawingml/2006/main">
            <a:off x="3429000" y="1666875"/>
            <a:ext cx="1428750" cy="742950"/>
          </a:xfrm>
          <a:prstGeom xmlns:a="http://schemas.openxmlformats.org/drawingml/2006/main" prst="roundRect">
            <a:avLst>
              <a:gd name="adj" fmla="val 10256"/>
            </a:avLst>
          </a:prstGeom>
          <a:solidFill xmlns:a="http://schemas.openxmlformats.org/drawingml/2006/main">
            <a:srgbClr val="EAF8F0"/>
          </a:solidFill>
          <a:ln xmlns:a="http://schemas.openxmlformats.org/drawingml/2006/main" w="9525">
            <a:solidFill>
              <a:srgbClr val="88D4A8"/>
            </a:solid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ASIG</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signal</a:t>
            </a:r>
          </a:p>
        </p:txBody>
      </p:sp>
      <p:sp>
        <p:nvSpPr>
          <p:cNvPr id="6" name="">
            <a:extLst xmlns:a="http://schemas.openxmlformats.org/drawingml/2006/main">
              <a:ext uri="{FF2B5EF4-FFF2-40B4-BE49-F238E27FC236}">
                <a16:creationId xmlns:a16="http://schemas.microsoft.com/office/drawing/2014/main" id="{73C1DBF4-1968-4F3D-9B38-43FF16BE692A}"/>
              </a:ext>
            </a:extLst>
          </p:cNvPr>
          <p:cNvSpPr>
            <a:spLocks xmlns:a="http://schemas.openxmlformats.org/drawingml/2006/main" noGrp="1"/>
          </p:cNvSpPr>
          <p:nvPr/>
        </p:nvSpPr>
        <p:spPr>
          <a:xfrm xmlns:a="http://schemas.openxmlformats.org/drawingml/2006/main">
            <a:off x="5505450" y="1666875"/>
            <a:ext cx="1428750" cy="742950"/>
          </a:xfrm>
          <a:prstGeom xmlns:a="http://schemas.openxmlformats.org/drawingml/2006/main" prst="roundRect">
            <a:avLst>
              <a:gd name="adj" fmla="val 10256"/>
            </a:avLst>
          </a:prstGeom>
          <a:solidFill xmlns:a="http://schemas.openxmlformats.org/drawingml/2006/main">
            <a:srgbClr val="FFF4E1"/>
          </a:solidFill>
          <a:ln xmlns:a="http://schemas.openxmlformats.org/drawingml/2006/main" w="9525">
            <a:solidFill>
              <a:srgbClr val="FFC66D"/>
            </a:solid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ABM</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beam</a:t>
            </a:r>
          </a:p>
        </p:txBody>
      </p:sp>
      <p:sp>
        <p:nvSpPr>
          <p:cNvPr id="7" name="">
            <a:extLst xmlns:a="http://schemas.openxmlformats.org/drawingml/2006/main">
              <a:ext uri="{FF2B5EF4-FFF2-40B4-BE49-F238E27FC236}">
                <a16:creationId xmlns:a16="http://schemas.microsoft.com/office/drawing/2014/main" id="{F59AFB85-3E44-4E72-AFD5-0439F9CFC666}"/>
              </a:ext>
            </a:extLst>
          </p:cNvPr>
          <p:cNvSpPr>
            <a:spLocks xmlns:a="http://schemas.openxmlformats.org/drawingml/2006/main" noGrp="1"/>
          </p:cNvSpPr>
          <p:nvPr/>
        </p:nvSpPr>
        <p:spPr>
          <a:xfrm xmlns:a="http://schemas.openxmlformats.org/drawingml/2006/main">
            <a:off x="7581900" y="1666875"/>
            <a:ext cx="1619250" cy="742950"/>
          </a:xfrm>
          <a:prstGeom xmlns:a="http://schemas.openxmlformats.org/drawingml/2006/main" prst="roundRect">
            <a:avLst>
              <a:gd name="adj" fmla="val 10256"/>
            </a:avLst>
          </a:prstGeom>
          <a:solidFill xmlns:a="http://schemas.openxmlformats.org/drawingml/2006/main">
            <a:srgbClr val="F1E8FF"/>
          </a:solidFill>
          <a:ln xmlns:a="http://schemas.openxmlformats.org/drawingml/2006/main" w="9525">
            <a:solidFill>
              <a:srgbClr val="C9A7FF"/>
            </a:solid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ASQ</a:t>
            </a:r>
          </a:p>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sensing quality</a:t>
            </a:r>
          </a:p>
        </p:txBody>
      </p:sp>
      <p:sp>
        <p:nvSpPr>
          <p:cNvPr id="8" name="">
            <a:extLst xmlns:a="http://schemas.openxmlformats.org/drawingml/2006/main">
              <a:ext uri="{FF2B5EF4-FFF2-40B4-BE49-F238E27FC236}">
                <a16:creationId xmlns:a16="http://schemas.microsoft.com/office/drawing/2014/main" id="{F5AE44FF-38EC-474A-A518-1983B41EAC95}"/>
              </a:ext>
            </a:extLst>
          </p:cNvPr>
          <p:cNvSpPr>
            <a:spLocks xmlns:a="http://schemas.openxmlformats.org/drawingml/2006/main" noGrp="1"/>
          </p:cNvSpPr>
          <p:nvPr/>
        </p:nvSpPr>
        <p:spPr>
          <a:xfrm xmlns:a="http://schemas.openxmlformats.org/drawingml/2006/main">
            <a:off x="4591050" y="3571875"/>
            <a:ext cx="2286000" cy="857250"/>
          </a:xfrm>
          <a:prstGeom xmlns:a="http://schemas.openxmlformats.org/drawingml/2006/main" prst="roundRect">
            <a:avLst>
              <a:gd name="adj" fmla="val 8889"/>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FFFFFF"/>
                </a:solidFill>
                <a:latin typeface="Aptos"/>
                <a:ea typeface="Aptos"/>
                <a:cs typeface="Aptos"/>
              </a:defRPr>
            </a:pPr>
            <a:r>
              <a:rPr sz="1575" b="1" i="0">
                <a:solidFill>
                  <a:srgbClr val="FFFFFF"/>
                </a:solidFill>
                <a:latin typeface="Aptos"/>
                <a:ea typeface="Aptos"/>
                <a:cs typeface="Aptos"/>
              </a:rPr>
              <a:t>APH</a:t>
            </a:r>
          </a:p>
          <a:p xmlns:a="http://schemas.openxmlformats.org/drawingml/2006/main">
            <a:pPr algn="ctr">
              <a:defRPr sz="1575" b="1" i="0">
                <a:solidFill>
                  <a:srgbClr val="FFFFFF"/>
                </a:solidFill>
                <a:latin typeface="Aptos"/>
                <a:ea typeface="Aptos"/>
                <a:cs typeface="Aptos"/>
              </a:defRPr>
            </a:pPr>
            <a:r>
              <a:rPr sz="1575" b="1" i="0">
                <a:solidFill>
                  <a:srgbClr val="FFFFFF"/>
                </a:solidFill>
                <a:latin typeface="Aptos"/>
                <a:ea typeface="Aptos"/>
                <a:cs typeface="Aptos"/>
              </a:rPr>
              <a:t>PHY aggregate</a:t>
            </a:r>
          </a:p>
        </p:txBody>
      </p:sp>
      <p:cxnSp>
        <p:nvCxnSpPr>
          <p:cNvPr id="9" name=""/>
          <p:cNvCxnSpPr>
            <a:stCxn xmlns:a="http://schemas.openxmlformats.org/drawingml/2006/main" id="8" idx="0"/>
            <a:endCxn xmlns:a="http://schemas.openxmlformats.org/drawingml/2006/main" id="4" idx="2"/>
          </p:cNvCxnSpPr>
          <p:nvPr/>
        </p:nvCxnSpPr>
        <p:spPr>
          <a:xfrm xmlns:a="http://schemas.openxmlformats.org/drawingml/2006/main" flipH="1" flipV="1">
            <a:off x="2066925" y="2409825"/>
            <a:ext cx="3667125" cy="116205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cxnSp>
        <p:nvCxnSpPr>
          <p:cNvPr id="10" name=""/>
          <p:cNvCxnSpPr>
            <a:stCxn xmlns:a="http://schemas.openxmlformats.org/drawingml/2006/main" id="8" idx="0"/>
            <a:endCxn xmlns:a="http://schemas.openxmlformats.org/drawingml/2006/main" id="5" idx="2"/>
          </p:cNvCxnSpPr>
          <p:nvPr/>
        </p:nvCxnSpPr>
        <p:spPr>
          <a:xfrm xmlns:a="http://schemas.openxmlformats.org/drawingml/2006/main" flipH="1" flipV="1">
            <a:off x="4143375" y="2409825"/>
            <a:ext cx="1590675" cy="116205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cxnSp>
        <p:nvCxnSpPr>
          <p:cNvPr id="11" name=""/>
          <p:cNvCxnSpPr>
            <a:stCxn xmlns:a="http://schemas.openxmlformats.org/drawingml/2006/main" id="8" idx="0"/>
            <a:endCxn xmlns:a="http://schemas.openxmlformats.org/drawingml/2006/main" id="6" idx="2"/>
          </p:cNvCxnSpPr>
          <p:nvPr/>
        </p:nvCxnSpPr>
        <p:spPr>
          <a:xfrm xmlns:a="http://schemas.openxmlformats.org/drawingml/2006/main" flipV="1">
            <a:off x="5734050" y="2409825"/>
            <a:ext cx="485775" cy="116205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cxnSp>
        <p:nvCxnSpPr>
          <p:cNvPr id="12" name=""/>
          <p:cNvCxnSpPr>
            <a:stCxn xmlns:a="http://schemas.openxmlformats.org/drawingml/2006/main" id="8" idx="0"/>
            <a:endCxn xmlns:a="http://schemas.openxmlformats.org/drawingml/2006/main" id="7" idx="2"/>
          </p:cNvCxnSpPr>
          <p:nvPr/>
        </p:nvCxnSpPr>
        <p:spPr>
          <a:xfrm xmlns:a="http://schemas.openxmlformats.org/drawingml/2006/main" flipV="1">
            <a:off x="5734050" y="2409825"/>
            <a:ext cx="2657475" cy="1162050"/>
          </a:xfrm>
          <a:prstGeom xmlns:a="http://schemas.openxmlformats.org/drawingml/2006/main" prst="straightConnector1">
            <a:avLst/>
          </a:prstGeom>
          <a:ln xmlns:a="http://schemas.openxmlformats.org/drawingml/2006/main" w="19050">
            <a:solidFill>
              <a:srgbClr val="8C1DFF"/>
            </a:solidFill>
            <a:prstDash val="solid"/>
            <a:headEnd type="arrow" w="med" len="med"/>
          </a:ln>
        </p:spPr>
      </p:cxnSp>
      <p:sp>
        <p:nvSpPr>
          <p:cNvPr id="13" name="">
            <a:extLst xmlns:a="http://schemas.openxmlformats.org/drawingml/2006/main">
              <a:ext uri="{FF2B5EF4-FFF2-40B4-BE49-F238E27FC236}">
                <a16:creationId xmlns:a16="http://schemas.microsoft.com/office/drawing/2014/main" id="{4879306B-E3D0-4929-A106-5BB1A7D17133}"/>
              </a:ext>
            </a:extLst>
          </p:cNvPr>
          <p:cNvSpPr>
            <a:spLocks xmlns:a="http://schemas.openxmlformats.org/drawingml/2006/main" noGrp="1"/>
          </p:cNvSpPr>
          <p:nvPr/>
        </p:nvSpPr>
        <p:spPr>
          <a:xfrm xmlns:a="http://schemas.openxmlformats.org/drawingml/2006/main">
            <a:off x="2324100" y="4552950"/>
            <a:ext cx="7000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200" b="0" i="0">
                <a:solidFill>
                  <a:srgbClr val="4B5563"/>
                </a:solidFill>
                <a:latin typeface="Aptos"/>
                <a:ea typeface="Aptos"/>
                <a:cs typeface="Aptos"/>
              </a:defRPr>
            </a:pPr>
            <a:r>
              <a:rPr sz="1200" b="0" i="0">
                <a:solidFill>
                  <a:srgbClr val="4B5563"/>
                </a:solidFill>
                <a:latin typeface="Aptos"/>
                <a:ea typeface="Aptos"/>
                <a:cs typeface="Aptos"/>
              </a:rPr>
              <a:t>broadcast reports: channel_report!, signal_report!, beam_report!, sensing_report!</a:t>
            </a:r>
          </a:p>
        </p:txBody>
      </p:sp>
      <p:sp>
        <p:nvSpPr>
          <p:cNvPr id="14" name="">
            <a:extLst xmlns:a="http://schemas.openxmlformats.org/drawingml/2006/main">
              <a:ext uri="{FF2B5EF4-FFF2-40B4-BE49-F238E27FC236}">
                <a16:creationId xmlns:a16="http://schemas.microsoft.com/office/drawing/2014/main" id="{1B771C90-E3BE-48EB-8CBE-44735F66FC20}"/>
              </a:ext>
            </a:extLst>
          </p:cNvPr>
          <p:cNvSpPr>
            <a:spLocks xmlns:a="http://schemas.openxmlformats.org/drawingml/2006/main" noGrp="1"/>
          </p:cNvSpPr>
          <p:nvPr/>
        </p:nvSpPr>
        <p:spPr>
          <a:xfrm xmlns:a="http://schemas.openxmlformats.org/drawingml/2006/main">
            <a:off x="1123950" y="5029200"/>
            <a:ext cx="9429750" cy="495300"/>
          </a:xfrm>
          <a:prstGeom xmlns:a="http://schemas.openxmlformats.org/drawingml/2006/main" prst="roundRect">
            <a:avLst>
              <a:gd name="adj" fmla="val 15385"/>
            </a:avLst>
          </a:prstGeom>
          <a:solidFill xmlns:a="http://schemas.openxmlformats.org/drawingml/2006/main">
            <a:srgbClr val="F4F6FB"/>
          </a:solidFill>
          <a:ln xmlns:a="http://schemas.openxmlformats.org/drawingml/2006/main" w="9525">
            <a:solidFill>
              <a:srgbClr val="CCD4E3"/>
            </a:solid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111827"/>
                </a:solidFill>
                <a:latin typeface="Cambria Math"/>
                <a:ea typeface="Cambria Math"/>
                <a:cs typeface="Cambria Math"/>
              </a:defRPr>
            </a:pPr>
            <a:r>
              <a:rPr sz="975" b="0" i="0">
                <a:solidFill>
                  <a:srgbClr val="111827"/>
                </a:solidFill>
                <a:latin typeface="Cambria Math"/>
                <a:ea typeface="Cambria Math"/>
                <a:cs typeface="Cambria Math"/>
              </a:rPr>
              <a:t>comm_ok := ChannelClass in {NOMINAL, INTERFERENCE, MOBILITY, MULTIPATH} AND SignalClass != LIMITED AND BeamClass notin {FAILED, MISALIGNED}</a:t>
            </a:r>
          </a:p>
        </p:txBody>
      </p:sp>
      <p:sp>
        <p:nvSpPr>
          <p:cNvPr id="15" name="">
            <a:extLst xmlns:a="http://schemas.openxmlformats.org/drawingml/2006/main">
              <a:ext uri="{FF2B5EF4-FFF2-40B4-BE49-F238E27FC236}">
                <a16:creationId xmlns:a16="http://schemas.microsoft.com/office/drawing/2014/main" id="{A46EAAC6-4326-4780-B798-9D7E2D499BC0}"/>
              </a:ext>
            </a:extLst>
          </p:cNvPr>
          <p:cNvSpPr>
            <a:spLocks xmlns:a="http://schemas.openxmlformats.org/drawingml/2006/main" noGrp="1"/>
          </p:cNvSpPr>
          <p:nvPr/>
        </p:nvSpPr>
        <p:spPr>
          <a:xfrm xmlns:a="http://schemas.openxmlformats.org/drawingml/2006/main">
            <a:off x="3333750" y="5676900"/>
            <a:ext cx="4953000" cy="419100"/>
          </a:xfrm>
          <a:prstGeom xmlns:a="http://schemas.openxmlformats.org/drawingml/2006/main" prst="roundRect">
            <a:avLst>
              <a:gd name="adj" fmla="val 18182"/>
            </a:avLst>
          </a:prstGeom>
          <a:solidFill xmlns:a="http://schemas.openxmlformats.org/drawingml/2006/main">
            <a:srgbClr val="F4F6FB"/>
          </a:solidFill>
          <a:ln xmlns:a="http://schemas.openxmlformats.org/drawingml/2006/main" w="9525">
            <a:solidFill>
              <a:srgbClr val="CCD4E3"/>
            </a:solidFill>
            <a:prstDash val="solid"/>
          </a:ln>
        </p:spPr>
        <p:txBody>
          <a:bodyPr xmlns:a="http://schemas.openxmlformats.org/drawingml/2006/main" anchor="ctr"/>
          <a:lstStyle xmlns:a="http://schemas.openxmlformats.org/drawingml/2006/main"/>
          <a:p xmlns:a="http://schemas.openxmlformats.org/drawingml/2006/main">
            <a:pPr algn="ctr">
              <a:defRPr sz="1275" b="0" i="0">
                <a:solidFill>
                  <a:srgbClr val="111827"/>
                </a:solidFill>
                <a:latin typeface="Cambria Math"/>
                <a:ea typeface="Cambria Math"/>
                <a:cs typeface="Cambria Math"/>
              </a:defRPr>
            </a:pPr>
            <a:r>
              <a:rPr sz="1275" b="0" i="0">
                <a:solidFill>
                  <a:srgbClr val="111827"/>
                </a:solidFill>
                <a:latin typeface="Cambria Math"/>
                <a:ea typeface="Cambria Math"/>
                <a:cs typeface="Cambria Math"/>
              </a:rPr>
              <a:t>sensing_qos_ok ≡ SensingState = SensingQoSOk</a:t>
            </a:r>
          </a:p>
        </p:txBody>
      </p:sp>
      <p:sp>
        <p:nvSpPr>
          <p:cNvPr id="16" name="">
            <a:extLst xmlns:a="http://schemas.openxmlformats.org/drawingml/2006/main">
              <a:ext uri="{FF2B5EF4-FFF2-40B4-BE49-F238E27FC236}">
                <a16:creationId xmlns:a16="http://schemas.microsoft.com/office/drawing/2014/main" id="{B86E3898-194A-47CF-941F-FF44D015281E}"/>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7B8190"/>
                </a:solidFill>
                <a:latin typeface="Aptos"/>
                <a:ea typeface="Aptos"/>
                <a:cs typeface="Aptos"/>
              </a:defRPr>
            </a:pPr>
            <a:r>
              <a:rPr sz="825" b="0" i="0">
                <a:solidFill>
                  <a:srgbClr val="7B8190"/>
                </a:solidFill>
                <a:latin typeface="Aptos"/>
                <a:ea typeface="Aptos"/>
                <a:cs typeface="Aptos"/>
              </a:rPr>
              <a:t>PHY formalization | 6/9</a:t>
            </a:r>
          </a:p>
        </p:txBody>
      </p:sp>
    </p:spTree>
    <p:extLst>
      <p:ext uri="{BB962C8B-B14F-4D97-AF65-F5344CB8AC3E}">
        <p14:creationId xmlns:p14="http://schemas.microsoft.com/office/powerpoint/2010/main" val="19518471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b86edbd35ce94a9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054C84-160E-4C8A-AC7C-0C8119A5EC8B}"/>
              </a:ext>
            </a:extLst>
          </p:cNvPr>
          <p:cNvSpPr>
            <a:spLocks xmlns:a="http://schemas.openxmlformats.org/drawingml/2006/main" noGrp="1"/>
          </p:cNvSpPr>
          <p:nvPr/>
        </p:nvSpPr>
        <p:spPr>
          <a:xfrm xmlns:a="http://schemas.openxmlformats.org/drawingml/2006/main">
            <a:off x="1143000" y="1104900"/>
            <a:ext cx="3048000" cy="5334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3150" b="1" i="0">
                <a:solidFill>
                  <a:srgbClr val="8C1DFF"/>
                </a:solidFill>
                <a:latin typeface="Aptos Display"/>
                <a:ea typeface="Aptos Display"/>
                <a:cs typeface="Aptos Display"/>
              </a:defRPr>
            </a:pPr>
            <a:r>
              <a:rPr sz="3150" b="1" i="0">
                <a:solidFill>
                  <a:srgbClr val="8C1DFF"/>
                </a:solidFill>
                <a:latin typeface="Aptos Display"/>
                <a:ea typeface="Aptos Display"/>
                <a:cs typeface="Aptos Display"/>
              </a:rPr>
              <a:t>Results</a:t>
            </a:r>
          </a:p>
        </p:txBody>
      </p:sp>
      <p:sp>
        <p:nvSpPr>
          <p:cNvPr id="3" name="">
            <a:extLst xmlns:a="http://schemas.openxmlformats.org/drawingml/2006/main">
              <a:ext uri="{FF2B5EF4-FFF2-40B4-BE49-F238E27FC236}">
                <a16:creationId xmlns:a16="http://schemas.microsoft.com/office/drawing/2014/main" id="{BF21DEE8-9A43-4D62-B630-524B98359812}"/>
              </a:ext>
            </a:extLst>
          </p:cNvPr>
          <p:cNvSpPr>
            <a:spLocks xmlns:a="http://schemas.openxmlformats.org/drawingml/2006/main" noGrp="1"/>
          </p:cNvSpPr>
          <p:nvPr/>
        </p:nvSpPr>
        <p:spPr>
          <a:xfrm xmlns:a="http://schemas.openxmlformats.org/drawingml/2006/main">
            <a:off x="1219200" y="1952625"/>
            <a:ext cx="457200" cy="457200"/>
          </a:xfrm>
          <a:prstGeom xmlns:a="http://schemas.openxmlformats.org/drawingml/2006/main" prst="roundRect">
            <a:avLst>
              <a:gd name="adj" fmla="val 16667"/>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1</a:t>
            </a:r>
          </a:p>
        </p:txBody>
      </p:sp>
      <p:sp>
        <p:nvSpPr>
          <p:cNvPr id="4" name="">
            <a:extLst xmlns:a="http://schemas.openxmlformats.org/drawingml/2006/main">
              <a:ext uri="{FF2B5EF4-FFF2-40B4-BE49-F238E27FC236}">
                <a16:creationId xmlns:a16="http://schemas.microsoft.com/office/drawing/2014/main" id="{3B28FD7C-EF65-437E-8C4B-6D12B5F0DEA5}"/>
              </a:ext>
            </a:extLst>
          </p:cNvPr>
          <p:cNvSpPr>
            <a:spLocks xmlns:a="http://schemas.openxmlformats.org/drawingml/2006/main" noGrp="1"/>
          </p:cNvSpPr>
          <p:nvPr/>
        </p:nvSpPr>
        <p:spPr>
          <a:xfrm xmlns:a="http://schemas.openxmlformats.org/drawingml/2006/main">
            <a:off x="1866900" y="1809750"/>
            <a:ext cx="7239000" cy="742950"/>
          </a:xfrm>
          <a:prstGeom xmlns:a="http://schemas.openxmlformats.org/drawingml/2006/main" prst="roundRect">
            <a:avLst>
              <a:gd name="adj" fmla="val 10256"/>
            </a:avLst>
          </a:prstGeom>
          <a:solidFill xmlns:a="http://schemas.openxmlformats.org/drawingml/2006/main">
            <a:srgbClr val="EAF3FF"/>
          </a:solidFill>
          <a:ln xmlns:a="http://schemas.openxmlformats.org/drawingml/2006/main" w="9525">
            <a:solidFill>
              <a:srgbClr val="8FB8FF"/>
            </a:solid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11827"/>
                </a:solidFill>
                <a:latin typeface="Aptos"/>
                <a:ea typeface="Aptos"/>
                <a:cs typeface="Aptos"/>
              </a:defRPr>
            </a:pPr>
            <a:r>
              <a:rPr sz="1575" b="1" i="0">
                <a:solidFill>
                  <a:srgbClr val="111827"/>
                </a:solidFill>
                <a:latin typeface="Aptos"/>
                <a:ea typeface="Aptos"/>
                <a:cs typeface="Aptos"/>
              </a:rPr>
              <a:t>Radio estimators are separated from the timed-automata core.</a:t>
            </a:r>
          </a:p>
        </p:txBody>
      </p:sp>
      <p:sp>
        <p:nvSpPr>
          <p:cNvPr id="5" name="">
            <a:extLst xmlns:a="http://schemas.openxmlformats.org/drawingml/2006/main">
              <a:ext uri="{FF2B5EF4-FFF2-40B4-BE49-F238E27FC236}">
                <a16:creationId xmlns:a16="http://schemas.microsoft.com/office/drawing/2014/main" id="{FDF5131E-4DED-4FF9-AFC9-F9D3DC5BAC4F}"/>
              </a:ext>
            </a:extLst>
          </p:cNvPr>
          <p:cNvSpPr>
            <a:spLocks xmlns:a="http://schemas.openxmlformats.org/drawingml/2006/main" noGrp="1"/>
          </p:cNvSpPr>
          <p:nvPr/>
        </p:nvSpPr>
        <p:spPr>
          <a:xfrm xmlns:a="http://schemas.openxmlformats.org/drawingml/2006/main">
            <a:off x="1219200" y="2952750"/>
            <a:ext cx="457200" cy="457200"/>
          </a:xfrm>
          <a:prstGeom xmlns:a="http://schemas.openxmlformats.org/drawingml/2006/main" prst="roundRect">
            <a:avLst>
              <a:gd name="adj" fmla="val 16667"/>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2</a:t>
            </a:r>
          </a:p>
        </p:txBody>
      </p:sp>
      <p:sp>
        <p:nvSpPr>
          <p:cNvPr id="6" name="">
            <a:extLst xmlns:a="http://schemas.openxmlformats.org/drawingml/2006/main">
              <a:ext uri="{FF2B5EF4-FFF2-40B4-BE49-F238E27FC236}">
                <a16:creationId xmlns:a16="http://schemas.microsoft.com/office/drawing/2014/main" id="{E7B20039-ADCA-4778-9D27-8D14CF8FFA50}"/>
              </a:ext>
            </a:extLst>
          </p:cNvPr>
          <p:cNvSpPr>
            <a:spLocks xmlns:a="http://schemas.openxmlformats.org/drawingml/2006/main" noGrp="1"/>
          </p:cNvSpPr>
          <p:nvPr/>
        </p:nvSpPr>
        <p:spPr>
          <a:xfrm xmlns:a="http://schemas.openxmlformats.org/drawingml/2006/main">
            <a:off x="1866900" y="2809875"/>
            <a:ext cx="7239000" cy="742950"/>
          </a:xfrm>
          <a:prstGeom xmlns:a="http://schemas.openxmlformats.org/drawingml/2006/main" prst="roundRect">
            <a:avLst>
              <a:gd name="adj" fmla="val 10256"/>
            </a:avLst>
          </a:prstGeom>
          <a:solidFill xmlns:a="http://schemas.openxmlformats.org/drawingml/2006/main">
            <a:srgbClr val="EAF8F0"/>
          </a:solidFill>
          <a:ln xmlns:a="http://schemas.openxmlformats.org/drawingml/2006/main" w="9525">
            <a:solidFill>
              <a:srgbClr val="88D4A8"/>
            </a:solid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11827"/>
                </a:solidFill>
                <a:latin typeface="Aptos"/>
                <a:ea typeface="Aptos"/>
                <a:cs typeface="Aptos"/>
              </a:defRPr>
            </a:pPr>
            <a:r>
              <a:rPr sz="1575" b="1" i="0">
                <a:solidFill>
                  <a:srgbClr val="111827"/>
                </a:solidFill>
                <a:latin typeface="Aptos"/>
                <a:ea typeface="Aptos"/>
                <a:cs typeface="Aptos"/>
              </a:rPr>
              <a:t>Communication and sensing degradation are represented by explicit PHY states.</a:t>
            </a:r>
          </a:p>
        </p:txBody>
      </p:sp>
      <p:sp>
        <p:nvSpPr>
          <p:cNvPr id="7" name="">
            <a:extLst xmlns:a="http://schemas.openxmlformats.org/drawingml/2006/main">
              <a:ext uri="{FF2B5EF4-FFF2-40B4-BE49-F238E27FC236}">
                <a16:creationId xmlns:a16="http://schemas.microsoft.com/office/drawing/2014/main" id="{BA008433-8946-46D3-AD05-59EFD49629BC}"/>
              </a:ext>
            </a:extLst>
          </p:cNvPr>
          <p:cNvSpPr>
            <a:spLocks xmlns:a="http://schemas.openxmlformats.org/drawingml/2006/main" noGrp="1"/>
          </p:cNvSpPr>
          <p:nvPr/>
        </p:nvSpPr>
        <p:spPr>
          <a:xfrm xmlns:a="http://schemas.openxmlformats.org/drawingml/2006/main">
            <a:off x="1219200" y="3952875"/>
            <a:ext cx="457200" cy="457200"/>
          </a:xfrm>
          <a:prstGeom xmlns:a="http://schemas.openxmlformats.org/drawingml/2006/main" prst="roundRect">
            <a:avLst>
              <a:gd name="adj" fmla="val 16667"/>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3</a:t>
            </a:r>
          </a:p>
        </p:txBody>
      </p:sp>
      <p:sp>
        <p:nvSpPr>
          <p:cNvPr id="8" name="">
            <a:extLst xmlns:a="http://schemas.openxmlformats.org/drawingml/2006/main">
              <a:ext uri="{FF2B5EF4-FFF2-40B4-BE49-F238E27FC236}">
                <a16:creationId xmlns:a16="http://schemas.microsoft.com/office/drawing/2014/main" id="{0F21F362-46AC-4C78-98EC-DF877CCFDAE0}"/>
              </a:ext>
            </a:extLst>
          </p:cNvPr>
          <p:cNvSpPr>
            <a:spLocks xmlns:a="http://schemas.openxmlformats.org/drawingml/2006/main" noGrp="1"/>
          </p:cNvSpPr>
          <p:nvPr/>
        </p:nvSpPr>
        <p:spPr>
          <a:xfrm xmlns:a="http://schemas.openxmlformats.org/drawingml/2006/main">
            <a:off x="1866900" y="3810000"/>
            <a:ext cx="7239000" cy="742950"/>
          </a:xfrm>
          <a:prstGeom xmlns:a="http://schemas.openxmlformats.org/drawingml/2006/main" prst="roundRect">
            <a:avLst>
              <a:gd name="adj" fmla="val 10256"/>
            </a:avLst>
          </a:prstGeom>
          <a:solidFill xmlns:a="http://schemas.openxmlformats.org/drawingml/2006/main">
            <a:srgbClr val="FFF4E1"/>
          </a:solidFill>
          <a:ln xmlns:a="http://schemas.openxmlformats.org/drawingml/2006/main" w="9525">
            <a:solidFill>
              <a:srgbClr val="FFC66D"/>
            </a:solid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11827"/>
                </a:solidFill>
                <a:latin typeface="Aptos"/>
                <a:ea typeface="Aptos"/>
                <a:cs typeface="Aptos"/>
              </a:defRPr>
            </a:pPr>
            <a:r>
              <a:rPr sz="1575" b="1" i="0">
                <a:solidFill>
                  <a:srgbClr val="111827"/>
                </a:solidFill>
                <a:latin typeface="Aptos"/>
                <a:ea typeface="Aptos"/>
                <a:cs typeface="Aptos"/>
              </a:rPr>
              <a:t>Reports and recovery reactions can be checked with bounded observers.</a:t>
            </a:r>
          </a:p>
        </p:txBody>
      </p:sp>
      <p:sp>
        <p:nvSpPr>
          <p:cNvPr id="9" name="">
            <a:extLst xmlns:a="http://schemas.openxmlformats.org/drawingml/2006/main">
              <a:ext uri="{FF2B5EF4-FFF2-40B4-BE49-F238E27FC236}">
                <a16:creationId xmlns:a16="http://schemas.microsoft.com/office/drawing/2014/main" id="{FB351CCD-48E0-443C-84A0-16D23EC2C441}"/>
              </a:ext>
            </a:extLst>
          </p:cNvPr>
          <p:cNvSpPr>
            <a:spLocks xmlns:a="http://schemas.openxmlformats.org/drawingml/2006/main" noGrp="1"/>
          </p:cNvSpPr>
          <p:nvPr/>
        </p:nvSpPr>
        <p:spPr>
          <a:xfrm xmlns:a="http://schemas.openxmlformats.org/drawingml/2006/main">
            <a:off x="7334250" y="4019550"/>
            <a:ext cx="1666875" cy="304800"/>
          </a:xfrm>
          <a:prstGeom xmlns:a="http://schemas.openxmlformats.org/drawingml/2006/main" prst="roundRect">
            <a:avLst>
              <a:gd name="adj" fmla="val 25000"/>
            </a:avLst>
          </a:prstGeom>
          <a:solidFill xmlns:a="http://schemas.openxmlformats.org/drawingml/2006/main">
            <a:srgbClr val="1C9A5B"/>
          </a:solidFill>
          <a:ln xmlns:a="http://schemas.openxmlformats.org/drawingml/2006/main" w="9525">
            <a:solidFill>
              <a:srgbClr val="1C9A5B"/>
            </a:solid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PHYNormal</a:t>
            </a:r>
          </a:p>
        </p:txBody>
      </p:sp>
      <p:sp>
        <p:nvSpPr>
          <p:cNvPr id="10" name="">
            <a:extLst xmlns:a="http://schemas.openxmlformats.org/drawingml/2006/main">
              <a:ext uri="{FF2B5EF4-FFF2-40B4-BE49-F238E27FC236}">
                <a16:creationId xmlns:a16="http://schemas.microsoft.com/office/drawing/2014/main" id="{66E80820-AC64-436A-A3C0-41FEFFA0694F}"/>
              </a:ext>
            </a:extLst>
          </p:cNvPr>
          <p:cNvSpPr>
            <a:spLocks xmlns:a="http://schemas.openxmlformats.org/drawingml/2006/main" noGrp="1"/>
          </p:cNvSpPr>
          <p:nvPr/>
        </p:nvSpPr>
        <p:spPr>
          <a:xfrm xmlns:a="http://schemas.openxmlformats.org/drawingml/2006/main">
            <a:off x="9144000" y="4019550"/>
            <a:ext cx="1666875" cy="304800"/>
          </a:xfrm>
          <a:prstGeom xmlns:a="http://schemas.openxmlformats.org/drawingml/2006/main" prst="roundRect">
            <a:avLst>
              <a:gd name="adj" fmla="val 25000"/>
            </a:avLst>
          </a:prstGeom>
          <a:solidFill xmlns:a="http://schemas.openxmlformats.org/drawingml/2006/main">
            <a:srgbClr val="F59E0B"/>
          </a:solidFill>
          <a:ln xmlns:a="http://schemas.openxmlformats.org/drawingml/2006/main" w="9525">
            <a:solidFill>
              <a:srgbClr val="F59E0B"/>
            </a:solid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PHYCommunicationDegraded</a:t>
            </a:r>
          </a:p>
        </p:txBody>
      </p:sp>
      <p:sp>
        <p:nvSpPr>
          <p:cNvPr id="11" name="">
            <a:extLst xmlns:a="http://schemas.openxmlformats.org/drawingml/2006/main">
              <a:ext uri="{FF2B5EF4-FFF2-40B4-BE49-F238E27FC236}">
                <a16:creationId xmlns:a16="http://schemas.microsoft.com/office/drawing/2014/main" id="{194B074D-F6ED-42CF-847B-7A8811DB54DF}"/>
              </a:ext>
            </a:extLst>
          </p:cNvPr>
          <p:cNvSpPr>
            <a:spLocks xmlns:a="http://schemas.openxmlformats.org/drawingml/2006/main" noGrp="1"/>
          </p:cNvSpPr>
          <p:nvPr/>
        </p:nvSpPr>
        <p:spPr>
          <a:xfrm xmlns:a="http://schemas.openxmlformats.org/drawingml/2006/main">
            <a:off x="7334250" y="4438650"/>
            <a:ext cx="1666875" cy="304800"/>
          </a:xfrm>
          <a:prstGeom xmlns:a="http://schemas.openxmlformats.org/drawingml/2006/main" prst="roundRect">
            <a:avLst>
              <a:gd name="adj" fmla="val 25000"/>
            </a:avLst>
          </a:prstGeom>
          <a:solidFill xmlns:a="http://schemas.openxmlformats.org/drawingml/2006/main">
            <a:srgbClr val="F59E0B"/>
          </a:solidFill>
          <a:ln xmlns:a="http://schemas.openxmlformats.org/drawingml/2006/main" w="9525">
            <a:solidFill>
              <a:srgbClr val="F59E0B"/>
            </a:solid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PHYSensingDegraded</a:t>
            </a:r>
          </a:p>
        </p:txBody>
      </p:sp>
      <p:sp>
        <p:nvSpPr>
          <p:cNvPr id="12" name="">
            <a:extLst xmlns:a="http://schemas.openxmlformats.org/drawingml/2006/main">
              <a:ext uri="{FF2B5EF4-FFF2-40B4-BE49-F238E27FC236}">
                <a16:creationId xmlns:a16="http://schemas.microsoft.com/office/drawing/2014/main" id="{957C55B1-C994-4F51-BADE-5441A2A382D9}"/>
              </a:ext>
            </a:extLst>
          </p:cNvPr>
          <p:cNvSpPr>
            <a:spLocks xmlns:a="http://schemas.openxmlformats.org/drawingml/2006/main" noGrp="1"/>
          </p:cNvSpPr>
          <p:nvPr/>
        </p:nvSpPr>
        <p:spPr>
          <a:xfrm xmlns:a="http://schemas.openxmlformats.org/drawingml/2006/main">
            <a:off x="9144000" y="4438650"/>
            <a:ext cx="1666875" cy="304800"/>
          </a:xfrm>
          <a:prstGeom xmlns:a="http://schemas.openxmlformats.org/drawingml/2006/main" prst="roundRect">
            <a:avLst>
              <a:gd name="adj" fmla="val 25000"/>
            </a:avLst>
          </a:prstGeom>
          <a:solidFill xmlns:a="http://schemas.openxmlformats.org/drawingml/2006/main">
            <a:srgbClr val="D64242"/>
          </a:solidFill>
          <a:ln xmlns:a="http://schemas.openxmlformats.org/drawingml/2006/main" w="9525">
            <a:solidFill>
              <a:srgbClr val="D64242"/>
            </a:solid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PHYJointDegraded</a:t>
            </a:r>
          </a:p>
        </p:txBody>
      </p:sp>
      <p:sp>
        <p:nvSpPr>
          <p:cNvPr id="13" name="">
            <a:extLst xmlns:a="http://schemas.openxmlformats.org/drawingml/2006/main">
              <a:ext uri="{FF2B5EF4-FFF2-40B4-BE49-F238E27FC236}">
                <a16:creationId xmlns:a16="http://schemas.microsoft.com/office/drawing/2014/main" id="{87CFE7BC-2C8F-4EDB-80C0-F04F112D2EA3}"/>
              </a:ext>
            </a:extLst>
          </p:cNvPr>
          <p:cNvSpPr>
            <a:spLocks xmlns:a="http://schemas.openxmlformats.org/drawingml/2006/main" noGrp="1"/>
          </p:cNvSpPr>
          <p:nvPr/>
        </p:nvSpPr>
        <p:spPr>
          <a:xfrm xmlns:a="http://schemas.openxmlformats.org/drawingml/2006/main">
            <a:off x="7334250" y="4857750"/>
            <a:ext cx="1666875" cy="304800"/>
          </a:xfrm>
          <a:prstGeom xmlns:a="http://schemas.openxmlformats.org/drawingml/2006/main" prst="roundRect">
            <a:avLst>
              <a:gd name="adj" fmla="val 25000"/>
            </a:avLst>
          </a:prstGeom>
          <a:solidFill xmlns:a="http://schemas.openxmlformats.org/drawingml/2006/main">
            <a:srgbClr val="2457D6"/>
          </a:solidFill>
          <a:ln xmlns:a="http://schemas.openxmlformats.org/drawingml/2006/main" w="9525">
            <a:solidFill>
              <a:srgbClr val="2457D6"/>
            </a:solid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PHYRecovery</a:t>
            </a:r>
          </a:p>
        </p:txBody>
      </p:sp>
      <p:sp>
        <p:nvSpPr>
          <p:cNvPr id="14" name="">
            <a:extLst xmlns:a="http://schemas.openxmlformats.org/drawingml/2006/main">
              <a:ext uri="{FF2B5EF4-FFF2-40B4-BE49-F238E27FC236}">
                <a16:creationId xmlns:a16="http://schemas.microsoft.com/office/drawing/2014/main" id="{B6F41580-D028-415F-B15A-CFBF13409FC0}"/>
              </a:ext>
            </a:extLst>
          </p:cNvPr>
          <p:cNvSpPr>
            <a:spLocks xmlns:a="http://schemas.openxmlformats.org/drawingml/2006/main" noGrp="1"/>
          </p:cNvSpPr>
          <p:nvPr/>
        </p:nvSpPr>
        <p:spPr>
          <a:xfrm xmlns:a="http://schemas.openxmlformats.org/drawingml/2006/main">
            <a:off x="9144000" y="4857750"/>
            <a:ext cx="1666875" cy="304800"/>
          </a:xfrm>
          <a:prstGeom xmlns:a="http://schemas.openxmlformats.org/drawingml/2006/main" prst="roundRect">
            <a:avLst>
              <a:gd name="adj" fmla="val 25000"/>
            </a:avLst>
          </a:prstGeom>
          <a:solidFill xmlns:a="http://schemas.openxmlformats.org/drawingml/2006/main">
            <a:srgbClr val="D64242"/>
          </a:solidFill>
          <a:ln xmlns:a="http://schemas.openxmlformats.org/drawingml/2006/main" w="9525">
            <a:solidFill>
              <a:srgbClr val="D64242"/>
            </a:solid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PHYFailure</a:t>
            </a:r>
          </a:p>
        </p:txBody>
      </p:sp>
      <p:sp>
        <p:nvSpPr>
          <p:cNvPr id="15" name="">
            <a:extLst xmlns:a="http://schemas.openxmlformats.org/drawingml/2006/main">
              <a:ext uri="{FF2B5EF4-FFF2-40B4-BE49-F238E27FC236}">
                <a16:creationId xmlns:a16="http://schemas.microsoft.com/office/drawing/2014/main" id="{2542C94E-A431-4E27-B6A2-28349A4253A8}"/>
              </a:ext>
            </a:extLst>
          </p:cNvPr>
          <p:cNvSpPr>
            <a:spLocks xmlns:a="http://schemas.openxmlformats.org/drawingml/2006/main" noGrp="1"/>
          </p:cNvSpPr>
          <p:nvPr/>
        </p:nvSpPr>
        <p:spPr>
          <a:xfrm xmlns:a="http://schemas.openxmlformats.org/drawingml/2006/main">
            <a:off x="7620000" y="3638550"/>
            <a:ext cx="2476500" cy="2667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ctr">
              <a:defRPr sz="1350" b="1" i="0">
                <a:solidFill>
                  <a:srgbClr val="111827"/>
                </a:solidFill>
                <a:latin typeface="Aptos"/>
                <a:ea typeface="Aptos"/>
                <a:cs typeface="Aptos"/>
              </a:defRPr>
            </a:pPr>
            <a:r>
              <a:rPr sz="1350" b="1" i="0">
                <a:solidFill>
                  <a:srgbClr val="111827"/>
                </a:solidFill>
                <a:latin typeface="Aptos"/>
                <a:ea typeface="Aptos"/>
                <a:cs typeface="Aptos"/>
              </a:rPr>
              <a:t>Output state set</a:t>
            </a:r>
          </a:p>
        </p:txBody>
      </p:sp>
      <p:sp>
        <p:nvSpPr>
          <p:cNvPr id="16" name="">
            <a:extLst xmlns:a="http://schemas.openxmlformats.org/drawingml/2006/main">
              <a:ext uri="{FF2B5EF4-FFF2-40B4-BE49-F238E27FC236}">
                <a16:creationId xmlns:a16="http://schemas.microsoft.com/office/drawing/2014/main" id="{B81C4D1B-D4B2-48E6-8BD8-3172EFEBD3C3}"/>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7B8190"/>
                </a:solidFill>
                <a:latin typeface="Aptos"/>
                <a:ea typeface="Aptos"/>
                <a:cs typeface="Aptos"/>
              </a:defRPr>
            </a:pPr>
            <a:r>
              <a:rPr sz="825" b="0" i="0">
                <a:solidFill>
                  <a:srgbClr val="7B8190"/>
                </a:solidFill>
                <a:latin typeface="Aptos"/>
                <a:ea typeface="Aptos"/>
                <a:cs typeface="Aptos"/>
              </a:rPr>
              <a:t>PHY formalization | 7/9</a:t>
            </a:r>
          </a:p>
        </p:txBody>
      </p:sp>
    </p:spTree>
    <p:extLst>
      <p:ext uri="{BB962C8B-B14F-4D97-AF65-F5344CB8AC3E}">
        <p14:creationId xmlns:p14="http://schemas.microsoft.com/office/powerpoint/2010/main" val="6187483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02e9ff2a95ea407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AB60B1-5730-4889-BD41-E8C63286551C}"/>
              </a:ext>
            </a:extLst>
          </p:cNvPr>
          <p:cNvSpPr>
            <a:spLocks xmlns:a="http://schemas.openxmlformats.org/drawingml/2006/main" noGrp="1"/>
          </p:cNvSpPr>
          <p:nvPr/>
        </p:nvSpPr>
        <p:spPr>
          <a:xfrm xmlns:a="http://schemas.openxmlformats.org/drawingml/2006/main">
            <a:off x="1066800" y="552450"/>
            <a:ext cx="7810500" cy="5143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2250" b="1" i="0">
                <a:solidFill>
                  <a:srgbClr val="111827"/>
                </a:solidFill>
                <a:latin typeface="Aptos Display"/>
                <a:ea typeface="Aptos Display"/>
                <a:cs typeface="Aptos Display"/>
              </a:defRPr>
            </a:pPr>
            <a:r>
              <a:rPr sz="2250" b="1" i="0">
                <a:solidFill>
                  <a:srgbClr val="111827"/>
                </a:solidFill>
                <a:latin typeface="Aptos Display"/>
                <a:ea typeface="Aptos Display"/>
                <a:cs typeface="Aptos Display"/>
              </a:rPr>
              <a:t>Conclusion &amp; Future Implementation</a:t>
            </a:r>
          </a:p>
        </p:txBody>
      </p:sp>
      <p:sp>
        <p:nvSpPr>
          <p:cNvPr id="3" name="">
            <a:extLst xmlns:a="http://schemas.openxmlformats.org/drawingml/2006/main">
              <a:ext uri="{FF2B5EF4-FFF2-40B4-BE49-F238E27FC236}">
                <a16:creationId xmlns:a16="http://schemas.microsoft.com/office/drawing/2014/main" id="{B2EA45D8-8A36-4F05-A598-380C13FA3280}"/>
              </a:ext>
            </a:extLst>
          </p:cNvPr>
          <p:cNvSpPr>
            <a:spLocks xmlns:a="http://schemas.openxmlformats.org/drawingml/2006/main" noGrp="1"/>
          </p:cNvSpPr>
          <p:nvPr/>
        </p:nvSpPr>
        <p:spPr>
          <a:xfrm xmlns:a="http://schemas.openxmlformats.org/drawingml/2006/main">
            <a:off x="1066800" y="1009650"/>
            <a:ext cx="8572500" cy="3048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125" b="0" i="0">
                <a:solidFill>
                  <a:srgbClr val="F3E8FF"/>
                </a:solidFill>
                <a:latin typeface="Aptos"/>
                <a:ea typeface="Aptos"/>
                <a:cs typeface="Aptos"/>
              </a:defRPr>
            </a:pPr>
            <a:r>
              <a:rPr sz="1125" b="0" i="0">
                <a:solidFill>
                  <a:srgbClr val="F3E8FF"/>
                </a:solidFill>
                <a:latin typeface="Aptos"/>
                <a:ea typeface="Aptos"/>
                <a:cs typeface="Aptos"/>
              </a:rPr>
              <a:t>The formalization is ready to be connected to MAC/SDN policy automata.</a:t>
            </a:r>
          </a:p>
        </p:txBody>
      </p:sp>
      <p:sp>
        <p:nvSpPr>
          <p:cNvPr id="4" name="">
            <a:extLst xmlns:a="http://schemas.openxmlformats.org/drawingml/2006/main">
              <a:ext uri="{FF2B5EF4-FFF2-40B4-BE49-F238E27FC236}">
                <a16:creationId xmlns:a16="http://schemas.microsoft.com/office/drawing/2014/main" id="{E15DC22F-35E0-4F92-B9B5-89F9B676C994}"/>
              </a:ext>
            </a:extLst>
          </p:cNvPr>
          <p:cNvSpPr>
            <a:spLocks xmlns:a="http://schemas.openxmlformats.org/drawingml/2006/main" noGrp="1"/>
          </p:cNvSpPr>
          <p:nvPr/>
        </p:nvSpPr>
        <p:spPr>
          <a:xfrm xmlns:a="http://schemas.openxmlformats.org/drawingml/2006/main">
            <a:off x="914400" y="1466850"/>
            <a:ext cx="381000" cy="381000"/>
          </a:xfrm>
          <a:prstGeom xmlns:a="http://schemas.openxmlformats.org/drawingml/2006/main" prst="roundRect">
            <a:avLst>
              <a:gd name="adj" fmla="val 20000"/>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latin typeface="Aptos"/>
                <a:ea typeface="Aptos"/>
                <a:cs typeface="Aptos"/>
              </a:defRPr>
            </a:pPr>
            <a:r>
              <a:rPr sz="1425" b="1" i="0">
                <a:solidFill>
                  <a:srgbClr val="FFFFFF"/>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346D3CAE-D71D-4013-BDF3-3F831CF5CF46}"/>
              </a:ext>
            </a:extLst>
          </p:cNvPr>
          <p:cNvSpPr>
            <a:spLocks xmlns:a="http://schemas.openxmlformats.org/drawingml/2006/main" noGrp="1"/>
          </p:cNvSpPr>
          <p:nvPr/>
        </p:nvSpPr>
        <p:spPr>
          <a:xfrm xmlns:a="http://schemas.openxmlformats.org/drawingml/2006/main">
            <a:off x="1409700" y="1524000"/>
            <a:ext cx="8382000" cy="3048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650" b="1" i="0">
                <a:solidFill>
                  <a:srgbClr val="111827"/>
                </a:solidFill>
                <a:latin typeface="Aptos"/>
                <a:ea typeface="Aptos"/>
                <a:cs typeface="Aptos"/>
              </a:defRPr>
            </a:pPr>
            <a:r>
              <a:rPr sz="1650" b="1" i="0">
                <a:solidFill>
                  <a:srgbClr val="111827"/>
                </a:solidFill>
                <a:latin typeface="Aptos"/>
                <a:ea typeface="Aptos"/>
                <a:cs typeface="Aptos"/>
              </a:rPr>
              <a:t>Conclusion</a:t>
            </a:r>
          </a:p>
        </p:txBody>
      </p:sp>
      <p:sp>
        <p:nvSpPr>
          <p:cNvPr id="6" name="">
            <a:extLst xmlns:a="http://schemas.openxmlformats.org/drawingml/2006/main">
              <a:ext uri="{FF2B5EF4-FFF2-40B4-BE49-F238E27FC236}">
                <a16:creationId xmlns:a16="http://schemas.microsoft.com/office/drawing/2014/main" id="{BABE046B-131B-4A23-BE93-4F022E88C97B}"/>
              </a:ext>
            </a:extLst>
          </p:cNvPr>
          <p:cNvSpPr>
            <a:spLocks xmlns:a="http://schemas.openxmlformats.org/drawingml/2006/main" noGrp="1"/>
          </p:cNvSpPr>
          <p:nvPr/>
        </p:nvSpPr>
        <p:spPr>
          <a:xfrm xmlns:a="http://schemas.openxmlformats.org/drawingml/2006/main">
            <a:off x="1428750" y="1952625"/>
            <a:ext cx="8477250" cy="6286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ptos"/>
                <a:ea typeface="Aptos"/>
                <a:cs typeface="Aptos"/>
              </a:defRPr>
            </a:pPr>
            <a:r>
              <a:rPr sz="1500" b="0" i="0">
                <a:solidFill>
                  <a:srgbClr val="111827"/>
                </a:solidFill>
                <a:latin typeface="Aptos"/>
                <a:ea typeface="Aptos"/>
                <a:cs typeface="Aptos"/>
              </a:rPr>
              <a:t>PHY is modeled as a finite, conservative contract layer. It does not prove radio probability values itself; it proves timely reaction to classified PHY events.</a:t>
            </a:r>
          </a:p>
        </p:txBody>
      </p:sp>
      <p:sp>
        <p:nvSpPr>
          <p:cNvPr id="7" name="">
            <a:extLst xmlns:a="http://schemas.openxmlformats.org/drawingml/2006/main">
              <a:ext uri="{FF2B5EF4-FFF2-40B4-BE49-F238E27FC236}">
                <a16:creationId xmlns:a16="http://schemas.microsoft.com/office/drawing/2014/main" id="{98AF2D67-A541-46B0-A15F-ABC7674E3665}"/>
              </a:ext>
            </a:extLst>
          </p:cNvPr>
          <p:cNvSpPr>
            <a:spLocks xmlns:a="http://schemas.openxmlformats.org/drawingml/2006/main" noGrp="1"/>
          </p:cNvSpPr>
          <p:nvPr/>
        </p:nvSpPr>
        <p:spPr>
          <a:xfrm xmlns:a="http://schemas.openxmlformats.org/drawingml/2006/main">
            <a:off x="914400" y="2647950"/>
            <a:ext cx="381000" cy="381000"/>
          </a:xfrm>
          <a:prstGeom xmlns:a="http://schemas.openxmlformats.org/drawingml/2006/main" prst="roundRect">
            <a:avLst>
              <a:gd name="adj" fmla="val 20000"/>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latin typeface="Aptos"/>
                <a:ea typeface="Aptos"/>
                <a:cs typeface="Aptos"/>
              </a:defRPr>
            </a:pPr>
            <a:r>
              <a:rPr sz="1425" b="1" i="0">
                <a:solidFill>
                  <a:srgbClr val="FFFFFF"/>
                </a:solidFill>
                <a:latin typeface="Aptos"/>
                <a:ea typeface="Aptos"/>
                <a:cs typeface="Aptos"/>
              </a:rPr>
              <a:t>2</a:t>
            </a:r>
          </a:p>
        </p:txBody>
      </p:sp>
      <p:sp>
        <p:nvSpPr>
          <p:cNvPr id="8" name="">
            <a:extLst xmlns:a="http://schemas.openxmlformats.org/drawingml/2006/main">
              <a:ext uri="{FF2B5EF4-FFF2-40B4-BE49-F238E27FC236}">
                <a16:creationId xmlns:a16="http://schemas.microsoft.com/office/drawing/2014/main" id="{94834716-06C2-4ADE-9FE3-540A6776F7ED}"/>
              </a:ext>
            </a:extLst>
          </p:cNvPr>
          <p:cNvSpPr>
            <a:spLocks xmlns:a="http://schemas.openxmlformats.org/drawingml/2006/main" noGrp="1"/>
          </p:cNvSpPr>
          <p:nvPr/>
        </p:nvSpPr>
        <p:spPr>
          <a:xfrm xmlns:a="http://schemas.openxmlformats.org/drawingml/2006/main">
            <a:off x="1409700" y="2705100"/>
            <a:ext cx="8382000" cy="3048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650" b="1" i="0">
                <a:solidFill>
                  <a:srgbClr val="111827"/>
                </a:solidFill>
                <a:latin typeface="Aptos"/>
                <a:ea typeface="Aptos"/>
                <a:cs typeface="Aptos"/>
              </a:defRPr>
            </a:pPr>
            <a:r>
              <a:rPr sz="1650" b="1" i="0">
                <a:solidFill>
                  <a:srgbClr val="111827"/>
                </a:solidFill>
                <a:latin typeface="Aptos"/>
                <a:ea typeface="Aptos"/>
                <a:cs typeface="Aptos"/>
              </a:rPr>
              <a:t>SensCAP and score are used as estimator / SDN inputs</a:t>
            </a:r>
          </a:p>
        </p:txBody>
      </p:sp>
      <p:sp>
        <p:nvSpPr>
          <p:cNvPr id="9" name="">
            <a:extLst xmlns:a="http://schemas.openxmlformats.org/drawingml/2006/main">
              <a:ext uri="{FF2B5EF4-FFF2-40B4-BE49-F238E27FC236}">
                <a16:creationId xmlns:a16="http://schemas.microsoft.com/office/drawing/2014/main" id="{131C278E-3687-495D-8E59-EB301E4A3791}"/>
              </a:ext>
            </a:extLst>
          </p:cNvPr>
          <p:cNvSpPr>
            <a:spLocks xmlns:a="http://schemas.openxmlformats.org/drawingml/2006/main" noGrp="1"/>
          </p:cNvSpPr>
          <p:nvPr/>
        </p:nvSpPr>
        <p:spPr>
          <a:xfrm xmlns:a="http://schemas.openxmlformats.org/drawingml/2006/main">
            <a:off x="1428750" y="3181350"/>
            <a:ext cx="8239125" cy="495300"/>
          </a:xfrm>
          <a:prstGeom xmlns:a="http://schemas.openxmlformats.org/drawingml/2006/main" prst="roundRect">
            <a:avLst>
              <a:gd name="adj" fmla="val 15385"/>
            </a:avLst>
          </a:prstGeom>
          <a:solidFill xmlns:a="http://schemas.openxmlformats.org/drawingml/2006/main">
            <a:srgbClr val="F4F6FB"/>
          </a:solidFill>
          <a:ln xmlns:a="http://schemas.openxmlformats.org/drawingml/2006/main" w="9525">
            <a:solidFill>
              <a:srgbClr val="CCD4E3"/>
            </a:solidFill>
            <a:prstDash val="solid"/>
          </a:ln>
        </p:spPr>
        <p:txBody>
          <a:bodyPr xmlns:a="http://schemas.openxmlformats.org/drawingml/2006/main" anchor="ctr"/>
          <a:lstStyle xmlns:a="http://schemas.openxmlformats.org/drawingml/2006/main"/>
          <a:p xmlns:a="http://schemas.openxmlformats.org/drawingml/2006/main">
            <a:pPr algn="ctr">
              <a:defRPr sz="1275" b="0" i="0">
                <a:solidFill>
                  <a:srgbClr val="111827"/>
                </a:solidFill>
                <a:latin typeface="Cambria Math"/>
                <a:ea typeface="Cambria Math"/>
                <a:cs typeface="Cambria Math"/>
              </a:defRPr>
            </a:pPr>
            <a:r>
              <a:rPr sz="1275" b="0" i="0">
                <a:solidFill>
                  <a:srgbClr val="111827"/>
                </a:solidFill>
                <a:latin typeface="Cambria Math"/>
                <a:ea typeface="Cambria Math"/>
                <a:cs typeface="Cambria Math"/>
              </a:rPr>
              <a:t>P_d(R_fa)=N_det/N,    C_s(Q_s,T_0)=N*(Q_s,T_0)/A,    AoS_CTRL(t)=t−t_ctrl_last</a:t>
            </a:r>
          </a:p>
        </p:txBody>
      </p:sp>
      <p:sp>
        <p:nvSpPr>
          <p:cNvPr id="10" name="">
            <a:extLst xmlns:a="http://schemas.openxmlformats.org/drawingml/2006/main">
              <a:ext uri="{FF2B5EF4-FFF2-40B4-BE49-F238E27FC236}">
                <a16:creationId xmlns:a16="http://schemas.microsoft.com/office/drawing/2014/main" id="{6830EF4F-BE79-4ECD-9801-AE367DFE52A7}"/>
              </a:ext>
            </a:extLst>
          </p:cNvPr>
          <p:cNvSpPr>
            <a:spLocks xmlns:a="http://schemas.openxmlformats.org/drawingml/2006/main" noGrp="1"/>
          </p:cNvSpPr>
          <p:nvPr/>
        </p:nvSpPr>
        <p:spPr>
          <a:xfrm xmlns:a="http://schemas.openxmlformats.org/drawingml/2006/main">
            <a:off x="3143250" y="3829050"/>
            <a:ext cx="4762500" cy="438150"/>
          </a:xfrm>
          <a:prstGeom xmlns:a="http://schemas.openxmlformats.org/drawingml/2006/main" prst="roundRect">
            <a:avLst>
              <a:gd name="adj" fmla="val 17391"/>
            </a:avLst>
          </a:prstGeom>
          <a:solidFill xmlns:a="http://schemas.openxmlformats.org/drawingml/2006/main">
            <a:srgbClr val="F4F6FB"/>
          </a:solidFill>
          <a:ln xmlns:a="http://schemas.openxmlformats.org/drawingml/2006/main" w="9525">
            <a:solidFill>
              <a:srgbClr val="CCD4E3"/>
            </a:solidFill>
            <a:prstDash val="solid"/>
          </a:ln>
        </p:spPr>
        <p:txBody>
          <a:bodyPr xmlns:a="http://schemas.openxmlformats.org/drawingml/2006/main" anchor="ctr"/>
          <a:lstStyle xmlns:a="http://schemas.openxmlformats.org/drawingml/2006/main"/>
          <a:p xmlns:a="http://schemas.openxmlformats.org/drawingml/2006/main">
            <a:pPr algn="ctr">
              <a:defRPr sz="1425" b="0" i="0">
                <a:solidFill>
                  <a:srgbClr val="111827"/>
                </a:solidFill>
                <a:latin typeface="Cambria Math"/>
                <a:ea typeface="Cambria Math"/>
                <a:cs typeface="Cambria Math"/>
              </a:defRPr>
            </a:pPr>
            <a:r>
              <a:rPr sz="1425" b="0" i="0">
                <a:solidFill>
                  <a:srgbClr val="111827"/>
                </a:solidFill>
                <a:latin typeface="Cambria Math"/>
                <a:ea typeface="Cambria Math"/>
                <a:cs typeface="Cambria Math"/>
              </a:rPr>
              <a:t>Π_PHY = Σ w_i Π_i,     w_i ≥ 0,     Σ w_i = 1</a:t>
            </a:r>
          </a:p>
        </p:txBody>
      </p:sp>
      <p:sp>
        <p:nvSpPr>
          <p:cNvPr id="11" name="">
            <a:extLst xmlns:a="http://schemas.openxmlformats.org/drawingml/2006/main">
              <a:ext uri="{FF2B5EF4-FFF2-40B4-BE49-F238E27FC236}">
                <a16:creationId xmlns:a16="http://schemas.microsoft.com/office/drawing/2014/main" id="{9C510BDD-B0B0-4D91-92B4-B2FDE24F17E5}"/>
              </a:ext>
            </a:extLst>
          </p:cNvPr>
          <p:cNvSpPr>
            <a:spLocks xmlns:a="http://schemas.openxmlformats.org/drawingml/2006/main" noGrp="1"/>
          </p:cNvSpPr>
          <p:nvPr/>
        </p:nvSpPr>
        <p:spPr>
          <a:xfrm xmlns:a="http://schemas.openxmlformats.org/drawingml/2006/main">
            <a:off x="914400" y="4572000"/>
            <a:ext cx="381000" cy="381000"/>
          </a:xfrm>
          <a:prstGeom xmlns:a="http://schemas.openxmlformats.org/drawingml/2006/main" prst="roundRect">
            <a:avLst>
              <a:gd name="adj" fmla="val 20000"/>
            </a:avLst>
          </a:prstGeom>
          <a:solidFill xmlns:a="http://schemas.openxmlformats.org/drawingml/2006/main">
            <a:srgbClr val="8C1DFF"/>
          </a:solidFill>
          <a:ln xmlns:a="http://schemas.openxmlformats.org/drawingml/2006/main" w="9525">
            <a:solidFill>
              <a:srgbClr val="8C1DFF"/>
            </a:solid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latin typeface="Aptos"/>
                <a:ea typeface="Aptos"/>
                <a:cs typeface="Aptos"/>
              </a:defRPr>
            </a:pPr>
            <a:r>
              <a:rPr sz="1425" b="1" i="0">
                <a:solidFill>
                  <a:srgbClr val="FFFFFF"/>
                </a:solidFill>
                <a:latin typeface="Aptos"/>
                <a:ea typeface="Aptos"/>
                <a:cs typeface="Aptos"/>
              </a:rPr>
              <a:t>3</a:t>
            </a:r>
          </a:p>
        </p:txBody>
      </p:sp>
      <p:sp>
        <p:nvSpPr>
          <p:cNvPr id="12" name="">
            <a:extLst xmlns:a="http://schemas.openxmlformats.org/drawingml/2006/main">
              <a:ext uri="{FF2B5EF4-FFF2-40B4-BE49-F238E27FC236}">
                <a16:creationId xmlns:a16="http://schemas.microsoft.com/office/drawing/2014/main" id="{65331D4E-E9AE-4667-BA79-1BE35932062C}"/>
              </a:ext>
            </a:extLst>
          </p:cNvPr>
          <p:cNvSpPr>
            <a:spLocks xmlns:a="http://schemas.openxmlformats.org/drawingml/2006/main" noGrp="1"/>
          </p:cNvSpPr>
          <p:nvPr/>
        </p:nvSpPr>
        <p:spPr>
          <a:xfrm xmlns:a="http://schemas.openxmlformats.org/drawingml/2006/main">
            <a:off x="1409700" y="4629150"/>
            <a:ext cx="8382000" cy="3048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650" b="1" i="0">
                <a:solidFill>
                  <a:srgbClr val="111827"/>
                </a:solidFill>
                <a:latin typeface="Aptos"/>
                <a:ea typeface="Aptos"/>
                <a:cs typeface="Aptos"/>
              </a:defRPr>
            </a:pPr>
            <a:r>
              <a:rPr sz="1650" b="1" i="0">
                <a:solidFill>
                  <a:srgbClr val="111827"/>
                </a:solidFill>
                <a:latin typeface="Aptos"/>
                <a:ea typeface="Aptos"/>
                <a:cs typeface="Aptos"/>
              </a:rPr>
              <a:t>Future implementation</a:t>
            </a:r>
          </a:p>
        </p:txBody>
      </p:sp>
      <p:sp>
        <p:nvSpPr>
          <p:cNvPr id="13" name="">
            <a:extLst xmlns:a="http://schemas.openxmlformats.org/drawingml/2006/main">
              <a:ext uri="{FF2B5EF4-FFF2-40B4-BE49-F238E27FC236}">
                <a16:creationId xmlns:a16="http://schemas.microsoft.com/office/drawing/2014/main" id="{513BE672-6A58-4890-86E0-AAC935043BE9}"/>
              </a:ext>
            </a:extLst>
          </p:cNvPr>
          <p:cNvSpPr>
            <a:spLocks xmlns:a="http://schemas.openxmlformats.org/drawingml/2006/main" noGrp="1"/>
          </p:cNvSpPr>
          <p:nvPr/>
        </p:nvSpPr>
        <p:spPr>
          <a:xfrm xmlns:a="http://schemas.openxmlformats.org/drawingml/2006/main">
            <a:off x="1447800" y="5067300"/>
            <a:ext cx="8286750" cy="8763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ptos"/>
                <a:ea typeface="Aptos"/>
                <a:cs typeface="Aptos"/>
              </a:defRPr>
            </a:pPr>
            <a:r>
              <a:rPr sz="1500" b="0" i="0">
                <a:solidFill>
                  <a:srgbClr val="111827"/>
                </a:solidFill>
                <a:latin typeface="Aptos"/>
                <a:ea typeface="Aptos"/>
                <a:cs typeface="Aptos"/>
              </a:rPr>
              <a:t>• calibrate class thresholds with simulation or field traces</a:t>
            </a:r>
          </a:p>
          <a:p xmlns:a="http://schemas.openxmlformats.org/drawingml/2006/main">
            <a:pPr algn="l">
              <a:defRPr sz="1500" b="0" i="0">
                <a:solidFill>
                  <a:srgbClr val="111827"/>
                </a:solidFill>
                <a:latin typeface="Aptos"/>
                <a:ea typeface="Aptos"/>
                <a:cs typeface="Aptos"/>
              </a:defRPr>
            </a:pPr>
            <a:r>
              <a:rPr sz="1500" b="0" i="0">
                <a:solidFill>
                  <a:srgbClr val="111827"/>
                </a:solidFill>
                <a:latin typeface="Aptos"/>
                <a:ea typeface="Aptos"/>
                <a:cs typeface="Aptos"/>
              </a:rPr>
              <a:t>• connect PHY reports to MAC scheduling and SDN/RIC recovery policies</a:t>
            </a:r>
          </a:p>
          <a:p xmlns:a="http://schemas.openxmlformats.org/drawingml/2006/main">
            <a:pPr algn="l">
              <a:defRPr sz="1500" b="0" i="0">
                <a:solidFill>
                  <a:srgbClr val="111827"/>
                </a:solidFill>
                <a:latin typeface="Aptos"/>
                <a:ea typeface="Aptos"/>
                <a:cs typeface="Aptos"/>
              </a:defRPr>
            </a:pPr>
            <a:r>
              <a:rPr sz="1500" b="0" i="0">
                <a:solidFill>
                  <a:srgbClr val="111827"/>
                </a:solidFill>
                <a:latin typeface="Aptos"/>
                <a:ea typeface="Aptos"/>
                <a:cs typeface="Aptos"/>
              </a:rPr>
              <a:t>• check bounded response observers in UPPAAL XML/XTA</a:t>
            </a:r>
          </a:p>
        </p:txBody>
      </p:sp>
      <p:sp>
        <p:nvSpPr>
          <p:cNvPr id="14" name="">
            <a:extLst xmlns:a="http://schemas.openxmlformats.org/drawingml/2006/main">
              <a:ext uri="{FF2B5EF4-FFF2-40B4-BE49-F238E27FC236}">
                <a16:creationId xmlns:a16="http://schemas.microsoft.com/office/drawing/2014/main" id="{F53A27C9-6025-4BDE-B80E-438E47BE9CC5}"/>
              </a:ext>
            </a:extLst>
          </p:cNvPr>
          <p:cNvSpPr>
            <a:spLocks xmlns:a="http://schemas.openxmlformats.org/drawingml/2006/main" noGrp="1"/>
          </p:cNvSpPr>
          <p:nvPr/>
        </p:nvSpPr>
        <p:spPr>
          <a:xfrm xmlns:a="http://schemas.openxmlformats.org/drawingml/2006/main">
            <a:off x="1162050" y="6000750"/>
            <a:ext cx="8953500" cy="2286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ctr">
              <a:defRPr sz="825" b="0" i="0">
                <a:solidFill>
                  <a:srgbClr val="4B5563"/>
                </a:solidFill>
                <a:latin typeface="Aptos"/>
                <a:ea typeface="Aptos"/>
                <a:cs typeface="Aptos"/>
              </a:defRPr>
            </a:pPr>
            <a:r>
              <a:rPr sz="825" b="0" i="0">
                <a:solidFill>
                  <a:srgbClr val="4B5563"/>
                </a:solidFill>
                <a:latin typeface="Aptos"/>
                <a:ea typeface="Aptos"/>
                <a:cs typeface="Aptos"/>
              </a:rPr>
              <a:t>Sources: Li et al. 2026; Liu et al. 2024; Liu et al. 2026; Huang et al. 2026; Alur &amp; Dill 1994; UPPAAL docs.</a:t>
            </a:r>
          </a:p>
        </p:txBody>
      </p:sp>
      <p:sp>
        <p:nvSpPr>
          <p:cNvPr id="15" name="">
            <a:extLst xmlns:a="http://schemas.openxmlformats.org/drawingml/2006/main">
              <a:ext uri="{FF2B5EF4-FFF2-40B4-BE49-F238E27FC236}">
                <a16:creationId xmlns:a16="http://schemas.microsoft.com/office/drawing/2014/main" id="{A7E12C89-2277-4523-AA52-891B5FC41C97}"/>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7B8190"/>
                </a:solidFill>
                <a:latin typeface="Aptos"/>
                <a:ea typeface="Aptos"/>
                <a:cs typeface="Aptos"/>
              </a:defRPr>
            </a:pPr>
            <a:r>
              <a:rPr sz="825" b="0" i="0">
                <a:solidFill>
                  <a:srgbClr val="7B8190"/>
                </a:solidFill>
                <a:latin typeface="Aptos"/>
                <a:ea typeface="Aptos"/>
                <a:cs typeface="Aptos"/>
              </a:rPr>
              <a:t>PHY formalization | 8/9</a:t>
            </a:r>
          </a:p>
        </p:txBody>
      </p:sp>
    </p:spTree>
    <p:extLst>
      <p:ext uri="{BB962C8B-B14F-4D97-AF65-F5344CB8AC3E}">
        <p14:creationId xmlns:p14="http://schemas.microsoft.com/office/powerpoint/2010/main" val="14155335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76e1a14d6a4b4d9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C092F9-7FED-4638-9BB4-71B0CDF6CD8B}"/>
              </a:ext>
            </a:extLst>
          </p:cNvPr>
          <p:cNvSpPr>
            <a:spLocks xmlns:a="http://schemas.openxmlformats.org/drawingml/2006/main" noGrp="1"/>
          </p:cNvSpPr>
          <p:nvPr/>
        </p:nvSpPr>
        <p:spPr>
          <a:xfrm xmlns:a="http://schemas.openxmlformats.org/drawingml/2006/main">
            <a:off x="3143250" y="2266950"/>
            <a:ext cx="5905500" cy="12382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ctr">
              <a:defRPr sz="3600" b="1" i="0">
                <a:solidFill>
                  <a:srgbClr val="FFFFFF"/>
                </a:solidFill>
                <a:latin typeface="Aptos Display"/>
                <a:ea typeface="Aptos Display"/>
                <a:cs typeface="Aptos Display"/>
              </a:defRPr>
            </a:pPr>
            <a:r>
              <a:rPr sz="3600" b="1" i="0">
                <a:solidFill>
                  <a:srgbClr val="FFFFFF"/>
                </a:solidFill>
                <a:latin typeface="Aptos Display"/>
                <a:ea typeface="Aptos Display"/>
                <a:cs typeface="Aptos Display"/>
              </a:rPr>
              <a:t>THANK YOU</a:t>
            </a:r>
          </a:p>
          <a:p xmlns:a="http://schemas.openxmlformats.org/drawingml/2006/main">
            <a:pPr algn="ctr">
              <a:defRPr sz="3600" b="1" i="0">
                <a:solidFill>
                  <a:srgbClr val="FFFFFF"/>
                </a:solidFill>
                <a:latin typeface="Aptos Display"/>
                <a:ea typeface="Aptos Display"/>
                <a:cs typeface="Aptos Display"/>
              </a:defRPr>
            </a:pPr>
            <a:r>
              <a:rPr sz="3600" b="1" i="0">
                <a:solidFill>
                  <a:srgbClr val="FFFFFF"/>
                </a:solidFill>
                <a:latin typeface="Aptos Display"/>
                <a:ea typeface="Aptos Display"/>
                <a:cs typeface="Aptos Display"/>
              </a:rPr>
              <a:t>FOR YOUR TIME!</a:t>
            </a:r>
          </a:p>
        </p:txBody>
      </p:sp>
      <p:sp>
        <p:nvSpPr>
          <p:cNvPr id="3" name="">
            <a:extLst xmlns:a="http://schemas.openxmlformats.org/drawingml/2006/main">
              <a:ext uri="{FF2B5EF4-FFF2-40B4-BE49-F238E27FC236}">
                <a16:creationId xmlns:a16="http://schemas.microsoft.com/office/drawing/2014/main" id="{41437B5F-FEE1-402D-ADE8-122032672269}"/>
              </a:ext>
            </a:extLst>
          </p:cNvPr>
          <p:cNvSpPr>
            <a:spLocks xmlns:a="http://schemas.openxmlformats.org/drawingml/2006/main" noGrp="1"/>
          </p:cNvSpPr>
          <p:nvPr/>
        </p:nvSpPr>
        <p:spPr>
          <a:xfrm xmlns:a="http://schemas.openxmlformats.org/drawingml/2006/main">
            <a:off x="4629150" y="3695700"/>
            <a:ext cx="2857500" cy="38100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ctr">
              <a:defRPr sz="1950" b="0" i="0">
                <a:solidFill>
                  <a:srgbClr val="F3F4F6"/>
                </a:solidFill>
                <a:latin typeface="Aptos"/>
                <a:ea typeface="Aptos"/>
                <a:cs typeface="Aptos"/>
              </a:defRPr>
            </a:pPr>
            <a:r>
              <a:rPr sz="1950" b="0" i="0">
                <a:solidFill>
                  <a:srgbClr val="F3F4F6"/>
                </a:solidFill>
                <a:latin typeface="Aptos"/>
                <a:ea typeface="Aptos"/>
                <a:cs typeface="Aptos"/>
              </a:rPr>
              <a:t>Questions?</a:t>
            </a:r>
          </a:p>
        </p:txBody>
      </p:sp>
      <p:sp>
        <p:nvSpPr>
          <p:cNvPr id="4" name="">
            <a:extLst xmlns:a="http://schemas.openxmlformats.org/drawingml/2006/main">
              <a:ext uri="{FF2B5EF4-FFF2-40B4-BE49-F238E27FC236}">
                <a16:creationId xmlns:a16="http://schemas.microsoft.com/office/drawing/2014/main" id="{28ED6968-505B-4282-BA21-87325F430755}"/>
              </a:ext>
            </a:extLst>
          </p:cNvPr>
          <p:cNvSpPr>
            <a:spLocks xmlns:a="http://schemas.openxmlformats.org/drawingml/2006/main" noGrp="1"/>
          </p:cNvSpPr>
          <p:nvPr/>
        </p:nvSpPr>
        <p:spPr>
          <a:xfrm xmlns:a="http://schemas.openxmlformats.org/drawingml/2006/main">
            <a:off x="9791700" y="6305550"/>
            <a:ext cx="1428750" cy="209550"/>
          </a:xfrm>
          <a:prstGeom xmlns:a="http://schemas.openxmlformats.org/drawingml/2006/main" prst="rect">
            <a:avLst/>
          </a:prstGeom>
        </p:spPr>
        <p:txBody>
          <a:bodyPr xmlns:a="http://schemas.openxmlformats.org/drawingml/2006/main" anchor="t"/>
          <a:lstStyle xmlns:a="http://schemas.openxmlformats.org/drawingml/2006/main"/>
          <a:p xmlns:a="http://schemas.openxmlformats.org/drawingml/2006/main">
            <a:pPr algn="r">
              <a:defRPr sz="825" b="0" i="0">
                <a:solidFill>
                  <a:srgbClr val="E5E7EB"/>
                </a:solidFill>
                <a:latin typeface="Aptos"/>
                <a:ea typeface="Aptos"/>
                <a:cs typeface="Aptos"/>
              </a:defRPr>
            </a:pPr>
            <a:r>
              <a:rPr sz="825" b="0" i="0">
                <a:solidFill>
                  <a:srgbClr val="E5E7EB"/>
                </a:solidFill>
                <a:latin typeface="Aptos"/>
                <a:ea typeface="Aptos"/>
                <a:cs typeface="Aptos"/>
              </a:rPr>
              <a:t>PHY formalization | 9/9</a:t>
            </a:r>
          </a:p>
        </p:txBody>
      </p:sp>
    </p:spTree>
    <p:extLst>
      <p:ext uri="{BB962C8B-B14F-4D97-AF65-F5344CB8AC3E}">
        <p14:creationId xmlns:p14="http://schemas.microsoft.com/office/powerpoint/2010/main" val="1637014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2026-06-09T18:59:23.7730000Z</dcterms:created>
  <dcterms:modified xsi:type="dcterms:W3CDTF">2026-06-09T18:59:23.7730000Z</dcterms:modified>
</coreProperties>
</file>