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d4fc9b37204835" /><Relationship Type="http://schemas.openxmlformats.org/officeDocument/2006/relationships/extended-properties" Target="/docProps/app.xml" Id="Rc1e3b1891b7f43da" /><Relationship Type="http://schemas.openxmlformats.org/officeDocument/2006/relationships/officeDocument" Target="/ppt/presentation.xml" Id="Raa60285d1582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af627af2724521"/>
  </p:sldMasterIdLst>
  <p:notesMasterIdLst>
    <p:notesMasterId xmlns:r="http://schemas.openxmlformats.org/officeDocument/2006/relationships" r:id="Re18d57e366c24fe2"/>
  </p:notesMasterIdLst>
  <p:sldIdLst>
    <p:sldId xmlns:r="http://schemas.openxmlformats.org/officeDocument/2006/relationships" id="256" r:id="R1d386ef028214d94"/>
    <p:sldId xmlns:r="http://schemas.openxmlformats.org/officeDocument/2006/relationships" id="257" r:id="R85553ddc16944523"/>
    <p:sldId xmlns:r="http://schemas.openxmlformats.org/officeDocument/2006/relationships" id="258" r:id="Rfa971de382d44bba"/>
    <p:sldId xmlns:r="http://schemas.openxmlformats.org/officeDocument/2006/relationships" id="259" r:id="Re0df03b4d7f54920"/>
    <p:sldId xmlns:r="http://schemas.openxmlformats.org/officeDocument/2006/relationships" id="260" r:id="Rb195b72e74e747ea"/>
    <p:sldId xmlns:r="http://schemas.openxmlformats.org/officeDocument/2006/relationships" id="261" r:id="R57cc74835bfc447a"/>
    <p:sldId xmlns:r="http://schemas.openxmlformats.org/officeDocument/2006/relationships" id="262" r:id="R6372b08f8d65458b"/>
    <p:sldId xmlns:r="http://schemas.openxmlformats.org/officeDocument/2006/relationships" id="263" r:id="R11fee6db06004e7a"/>
    <p:sldId xmlns:r="http://schemas.openxmlformats.org/officeDocument/2006/relationships" id="264" r:id="R7958907d733b43af"/>
    <p:sldId xmlns:r="http://schemas.openxmlformats.org/officeDocument/2006/relationships" id="265" r:id="Re65f9a2da320494c"/>
    <p:sldId xmlns:r="http://schemas.openxmlformats.org/officeDocument/2006/relationships" id="266" r:id="Rdb0811d282724289"/>
    <p:sldId xmlns:r="http://schemas.openxmlformats.org/officeDocument/2006/relationships" id="267" r:id="R890436c07ca54b65"/>
    <p:sldId xmlns:r="http://schemas.openxmlformats.org/officeDocument/2006/relationships" id="268" r:id="R0afcbf54c72a4c74"/>
    <p:sldId xmlns:r="http://schemas.openxmlformats.org/officeDocument/2006/relationships" id="269" r:id="Rc46af0207a4e48e7"/>
    <p:sldId xmlns:r="http://schemas.openxmlformats.org/officeDocument/2006/relationships" id="270" r:id="R7fe1b2d3d71447d9"/>
    <p:sldId xmlns:r="http://schemas.openxmlformats.org/officeDocument/2006/relationships" id="271" r:id="R7f5724611d6a41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89e53827844d3" /><Relationship Type="http://schemas.openxmlformats.org/officeDocument/2006/relationships/slideMaster" Target="/ppt/slideMasters/slideMaster1.xml" Id="R08af627af2724521" /><Relationship Type="http://schemas.openxmlformats.org/officeDocument/2006/relationships/notesMaster" Target="/ppt/notesMasters/notesMaster1.xml" Id="Re18d57e366c24fe2" /><Relationship Type="http://schemas.openxmlformats.org/officeDocument/2006/relationships/presProps" Target="/ppt/presProps.xml" Id="R02ac5c92ef3148a4" /><Relationship Type="http://schemas.openxmlformats.org/officeDocument/2006/relationships/tableStyles" Target="/ppt/tableStyles.xml" Id="R7eab9426b48f40d9" /><Relationship Type="http://schemas.openxmlformats.org/officeDocument/2006/relationships/slide" Target="/ppt/slides/slide1.xml" Id="R1d386ef028214d94" /><Relationship Type="http://schemas.openxmlformats.org/officeDocument/2006/relationships/slide" Target="/ppt/slides/slide2.xml" Id="R85553ddc16944523" /><Relationship Type="http://schemas.openxmlformats.org/officeDocument/2006/relationships/slide" Target="/ppt/slides/slide3.xml" Id="Rfa971de382d44bba" /><Relationship Type="http://schemas.openxmlformats.org/officeDocument/2006/relationships/slide" Target="/ppt/slides/slide4.xml" Id="Re0df03b4d7f54920" /><Relationship Type="http://schemas.openxmlformats.org/officeDocument/2006/relationships/slide" Target="/ppt/slides/slide5.xml" Id="Rb195b72e74e747ea" /><Relationship Type="http://schemas.openxmlformats.org/officeDocument/2006/relationships/slide" Target="/ppt/slides/slide6.xml" Id="R57cc74835bfc447a" /><Relationship Type="http://schemas.openxmlformats.org/officeDocument/2006/relationships/slide" Target="/ppt/slides/slide7.xml" Id="R6372b08f8d65458b" /><Relationship Type="http://schemas.openxmlformats.org/officeDocument/2006/relationships/slide" Target="/ppt/slides/slide8.xml" Id="R11fee6db06004e7a" /><Relationship Type="http://schemas.openxmlformats.org/officeDocument/2006/relationships/slide" Target="/ppt/slides/slide9.xml" Id="R7958907d733b43af" /><Relationship Type="http://schemas.openxmlformats.org/officeDocument/2006/relationships/slide" Target="/ppt/slides/slide10.xml" Id="Re65f9a2da320494c" /><Relationship Type="http://schemas.openxmlformats.org/officeDocument/2006/relationships/slide" Target="/ppt/slides/slide11.xml" Id="Rdb0811d282724289" /><Relationship Type="http://schemas.openxmlformats.org/officeDocument/2006/relationships/slide" Target="/ppt/slides/slide12.xml" Id="R890436c07ca54b65" /><Relationship Type="http://schemas.openxmlformats.org/officeDocument/2006/relationships/slide" Target="/ppt/slides/slide13.xml" Id="R0afcbf54c72a4c74" /><Relationship Type="http://schemas.openxmlformats.org/officeDocument/2006/relationships/slide" Target="/ppt/slides/slide14.xml" Id="Rc46af0207a4e48e7" /><Relationship Type="http://schemas.openxmlformats.org/officeDocument/2006/relationships/slide" Target="/ppt/slides/slide15.xml" Id="R7fe1b2d3d71447d9" /><Relationship Type="http://schemas.openxmlformats.org/officeDocument/2006/relationships/slide" Target="/ppt/slides/slide16.xml" Id="R7f5724611d6a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722dc83ce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0d97920ac4de2" /><Relationship Type="http://schemas.openxmlformats.org/officeDocument/2006/relationships/notesMaster" Target="/ppt/notesMasters/notesMaster1.xml" Id="Re737f1a018b74e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9dfa046aed434c" /><Relationship Type="http://schemas.openxmlformats.org/officeDocument/2006/relationships/notesMaster" Target="/ppt/notesMasters/notesMaster1.xml" Id="Rdb36a9a026934e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a57f3f06bc4c21" /><Relationship Type="http://schemas.openxmlformats.org/officeDocument/2006/relationships/notesMaster" Target="/ppt/notesMasters/notesMaster1.xml" Id="Rc87199a0830e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23a0f85fc740d1" /><Relationship Type="http://schemas.openxmlformats.org/officeDocument/2006/relationships/notesMaster" Target="/ppt/notesMasters/notesMaster1.xml" Id="R4535b33ac15f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81ca9fb714eeb" /><Relationship Type="http://schemas.openxmlformats.org/officeDocument/2006/relationships/notesMaster" Target="/ppt/notesMasters/notesMaster1.xml" Id="Rd1a904859c9648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23ca1cf6ea4ee2" /><Relationship Type="http://schemas.openxmlformats.org/officeDocument/2006/relationships/notesMaster" Target="/ppt/notesMasters/notesMaster1.xml" Id="Ra8ef3ffd5a3d40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96751d4afa4ce6" /><Relationship Type="http://schemas.openxmlformats.org/officeDocument/2006/relationships/notesMaster" Target="/ppt/notesMasters/notesMaster1.xml" Id="R8b039b43bf4f4c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5524ea6e604f3a" /><Relationship Type="http://schemas.openxmlformats.org/officeDocument/2006/relationships/notesMaster" Target="/ppt/notesMasters/notesMaster1.xml" Id="R2945be0cc891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ff0a35eadd4483" /><Relationship Type="http://schemas.openxmlformats.org/officeDocument/2006/relationships/notesMaster" Target="/ppt/notesMasters/notesMaster1.xml" Id="R0e502bc5039b46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f5c921458d4fa3" /><Relationship Type="http://schemas.openxmlformats.org/officeDocument/2006/relationships/notesMaster" Target="/ppt/notesMasters/notesMaster1.xml" Id="R9bf0627aca2d42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0998d9af9942dc" /><Relationship Type="http://schemas.openxmlformats.org/officeDocument/2006/relationships/notesMaster" Target="/ppt/notesMasters/notesMaster1.xml" Id="Rca0aa64f6f4f42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e97c9b626c44ab" /><Relationship Type="http://schemas.openxmlformats.org/officeDocument/2006/relationships/notesMaster" Target="/ppt/notesMasters/notesMaster1.xml" Id="Rbe6678d90b1a45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f80a3bb60d40ec" /><Relationship Type="http://schemas.openxmlformats.org/officeDocument/2006/relationships/notesMaster" Target="/ppt/notesMasters/notesMaster1.xml" Id="Rc3a6030b639b4a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59085c48014a1d" /><Relationship Type="http://schemas.openxmlformats.org/officeDocument/2006/relationships/notesMaster" Target="/ppt/notesMasters/notesMaster1.xml" Id="R2bb0a042bb3646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9a65e672064d72" /><Relationship Type="http://schemas.openxmlformats.org/officeDocument/2006/relationships/notesMaster" Target="/ppt/notesMasters/notesMaster1.xml" Id="R470ea947edd94f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03685df04a4b4d" /><Relationship Type="http://schemas.openxmlformats.org/officeDocument/2006/relationships/notesMaster" Target="/ppt/notesMasters/notesMaster1.xml" Id="Ra34ead7e09bf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89b0e00e241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896f2c5104bdf" /><Relationship Type="http://schemas.openxmlformats.org/officeDocument/2006/relationships/slideLayout" Target="/ppt/slideLayouts/slideLayout1.xml" Id="Rb578ba730c40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8ba730c40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b321d2ce94cb9" /><Relationship Type="http://schemas.openxmlformats.org/officeDocument/2006/relationships/image" Target="/ppt/media/image.png" Id="R461798c0bff242dc" /><Relationship Type="http://schemas.openxmlformats.org/officeDocument/2006/relationships/image" Target="/ppt/media/image2.png" Id="R137f22f9fa4a4062" /><Relationship Type="http://schemas.openxmlformats.org/officeDocument/2006/relationships/notesSlide" Target="/ppt/notesSlides/notesSlide1.xml" Id="R1145113000d143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d25ce389a452a" /><Relationship Type="http://schemas.openxmlformats.org/officeDocument/2006/relationships/image" Target="/ppt/media/image3.png" Id="R1abe8a564fb645df" /><Relationship Type="http://schemas.openxmlformats.org/officeDocument/2006/relationships/notesSlide" Target="/ppt/notesSlides/notesSlide2.xml" Id="Rc28a917eb4fc45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124c05124751" /><Relationship Type="http://schemas.openxmlformats.org/officeDocument/2006/relationships/image" Target="/ppt/media/image4.png" Id="R5ef0277c1ab24ac2" /><Relationship Type="http://schemas.openxmlformats.org/officeDocument/2006/relationships/notesSlide" Target="/ppt/notesSlides/notesSlide3.xml" Id="R4d44b045631e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679b8d8c14d04" /><Relationship Type="http://schemas.openxmlformats.org/officeDocument/2006/relationships/image" Target="/ppt/media/image5.png" Id="Rf244d103ccac40f7" /><Relationship Type="http://schemas.openxmlformats.org/officeDocument/2006/relationships/notesSlide" Target="/ppt/notesSlides/notesSlide4.xml" Id="R209240c2ab8743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6391d8b14db8" /><Relationship Type="http://schemas.openxmlformats.org/officeDocument/2006/relationships/image" Target="/ppt/media/image6.png" Id="Rd852f33c9d4d4fda" /><Relationship Type="http://schemas.openxmlformats.org/officeDocument/2006/relationships/notesSlide" Target="/ppt/notesSlides/notesSlide5.xml" Id="R55522b34aa714b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d965a79054a4d" /><Relationship Type="http://schemas.openxmlformats.org/officeDocument/2006/relationships/image" Target="/ppt/media/image7.png" Id="R88258d78284e40fa" /><Relationship Type="http://schemas.openxmlformats.org/officeDocument/2006/relationships/notesSlide" Target="/ppt/notesSlides/notesSlide6.xml" Id="Ra4a2455385274f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f7209f38b4205" /><Relationship Type="http://schemas.openxmlformats.org/officeDocument/2006/relationships/image" Target="/ppt/media/image8.png" Id="R1374ecb432f34a1e" /><Relationship Type="http://schemas.openxmlformats.org/officeDocument/2006/relationships/notesSlide" Target="/ppt/notesSlides/notesSlide7.xml" Id="R59da5b779a6846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6ffd95cce4753" /><Relationship Type="http://schemas.openxmlformats.org/officeDocument/2006/relationships/image" Target="/ppt/media/image9.png" Id="R5c531dd278e54c6e" /><Relationship Type="http://schemas.openxmlformats.org/officeDocument/2006/relationships/notesSlide" Target="/ppt/notesSlides/notesSlide8.xml" Id="R5e378908ab594f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7d03d04d042a8" /><Relationship Type="http://schemas.openxmlformats.org/officeDocument/2006/relationships/image" Target="/ppt/media/image10.png" Id="R4ef620e014be4baa" /><Relationship Type="http://schemas.openxmlformats.org/officeDocument/2006/relationships/notesSlide" Target="/ppt/notesSlides/notesSlide9.xml" Id="Re7ba9a3f8e60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fca3ebf164a8d" /><Relationship Type="http://schemas.openxmlformats.org/officeDocument/2006/relationships/image" Target="/ppt/media/image11.png" Id="R52d9b13f4506425d" /><Relationship Type="http://schemas.openxmlformats.org/officeDocument/2006/relationships/notesSlide" Target="/ppt/notesSlides/notesSlide10.xml" Id="Rce2c1972028148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b3b941714829" /><Relationship Type="http://schemas.openxmlformats.org/officeDocument/2006/relationships/image" Target="/ppt/media/image12.png" Id="R4ffadbe2ea4b4c98" /><Relationship Type="http://schemas.openxmlformats.org/officeDocument/2006/relationships/notesSlide" Target="/ppt/notesSlides/notesSlide11.xml" Id="Ra3215815761d48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9da0d05d746c7" /><Relationship Type="http://schemas.openxmlformats.org/officeDocument/2006/relationships/image" Target="/ppt/media/image13.png" Id="Read8d04c1802424e" /><Relationship Type="http://schemas.openxmlformats.org/officeDocument/2006/relationships/notesSlide" Target="/ppt/notesSlides/notesSlide12.xml" Id="Ref9fd25f28e143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3fd3974f74e16" /><Relationship Type="http://schemas.openxmlformats.org/officeDocument/2006/relationships/image" Target="/ppt/media/image14.png" Id="R7327f81fc6bf4864" /><Relationship Type="http://schemas.openxmlformats.org/officeDocument/2006/relationships/notesSlide" Target="/ppt/notesSlides/notesSlide13.xml" Id="R331f43ed72b043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80a604f4474f" /><Relationship Type="http://schemas.openxmlformats.org/officeDocument/2006/relationships/image" Target="/ppt/media/image15.png" Id="Rf11807c2d1d8413b" /><Relationship Type="http://schemas.openxmlformats.org/officeDocument/2006/relationships/notesSlide" Target="/ppt/notesSlides/notesSlide14.xml" Id="Rf3302d0d514e4d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f6f6037945e2" /><Relationship Type="http://schemas.openxmlformats.org/officeDocument/2006/relationships/image" Target="/ppt/media/image16.png" Id="R439cfa5fc8994283" /><Relationship Type="http://schemas.openxmlformats.org/officeDocument/2006/relationships/notesSlide" Target="/ppt/notesSlides/notesSlide15.xml" Id="Rde0d66cf0d844d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c30da7764f5c" /><Relationship Type="http://schemas.openxmlformats.org/officeDocument/2006/relationships/image" Target="/ppt/media/image17.png" Id="R38ee591510774bd4" /><Relationship Type="http://schemas.openxmlformats.org/officeDocument/2006/relationships/image" Target="/ppt/media/image18.png" Id="Rc3584643f16e4147" /><Relationship Type="http://schemas.openxmlformats.org/officeDocument/2006/relationships/notesSlide" Target="/ppt/notesSlides/notesSlide16.xml" Id="R83731bc2a42d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798c0bff242dc"/>
          <a:stretch xmlns:a="http://schemas.openxmlformats.org/drawingml/2006/main"/>
        </p:blipFill>
        <p:spPr>
          <a:xfrm xmlns:a="http://schemas.openxmlformats.org/drawingml/2006/main">
            <a:off x="7429500" y="4763"/>
            <a:ext cx="4762500" cy="35528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f22f9fa4a4062"/>
          <a:stretch xmlns:a="http://schemas.openxmlformats.org/drawingml/2006/main"/>
        </p:blipFill>
        <p:spPr>
          <a:xfrm xmlns:a="http://schemas.openxmlformats.org/drawingml/2006/main">
            <a:off x="1109490" y="361950"/>
            <a:ext cx="1514819" cy="628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D729E-E4A9-4703-B5E6-80BD4053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200"/>
                </a:solidFill>
              </a:defRPr>
            </a:pPr>
            <a:r>
              <a:rPr sz="2100" b="1" i="0">
                <a:solidFill>
                  <a:srgbClr val="FFF200"/>
                </a:solidFill>
              </a:rPr>
              <a:t>Промежуточная аттестация аспиранта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40E94-8E6D-4A66-9B7A-35002F0D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38B8"/>
                </a:solidFill>
              </a:defRPr>
            </a:pPr>
            <a:r>
              <a:rPr sz="2250" b="1" i="0">
                <a:solidFill>
                  <a:srgbClr val="0038B8"/>
                </a:solidFill>
              </a:rPr>
              <a:t>Исследование и разработка моделей и методов</a:t>
            </a:r>
          </a:p>
          <a:p xmlns:a="http://schemas.openxmlformats.org/drawingml/2006/main">
            <a:pPr algn="l">
              <a:defRPr sz="2250" b="1" i="0">
                <a:solidFill>
                  <a:srgbClr val="0038B8"/>
                </a:solidFill>
              </a:defRPr>
            </a:pPr>
            <a:r>
              <a:rPr sz="2250" b="1" i="0">
                <a:solidFill>
                  <a:srgbClr val="0038B8"/>
                </a:solidFill>
              </a:rPr>
              <a:t>интегрированного зондирования в 6G-сетях</a:t>
            </a:r>
          </a:p>
          <a:p xmlns:a="http://schemas.openxmlformats.org/drawingml/2006/main">
            <a:pPr algn="l">
              <a:defRPr sz="2250" b="1" i="0">
                <a:solidFill>
                  <a:srgbClr val="0038B8"/>
                </a:solidFill>
              </a:defRPr>
            </a:pPr>
            <a:r>
              <a:rPr sz="2250" b="1" i="0">
                <a:solidFill>
                  <a:srgbClr val="0038B8"/>
                </a:solidFill>
              </a:rPr>
              <a:t>для обнаружения малоразмерных летательных аппаратов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26356-4309-4060-9DCB-899EBE48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Глава 1: аналитический раздел</a:t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Глава 2: теоретические основы и разработка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5A048-DEF9-4F62-9DF2-5D03EDF2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38B8"/>
                </a:solidFill>
              </a:defRPr>
            </a:pPr>
            <a:r>
              <a:rPr sz="1650" b="0" i="0">
                <a:solidFill>
                  <a:srgbClr val="0038B8"/>
                </a:solidFill>
              </a:rPr>
              <a:t>Аспирант: Тинишов Вадим Сергеевич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4105A-54D1-4234-A492-930E333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A7A7A7"/>
                </a:solidFill>
              </a:defRPr>
            </a:pPr>
            <a:r>
              <a:rPr sz="1350" b="0" i="0">
                <a:solidFill>
                  <a:srgbClr val="A7A7A7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81935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e8a564fb645df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4D931-A37D-4098-8D28-23BB75BE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E2F3D-424F-4F7A-9899-BFCFEF5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73E8D-40AB-4F75-B0B1-8440360B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Актуальность исследования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6C99D-C162-416C-BCA5-78FFDF8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F1B5B-3D56-4A14-AFDB-1E95251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ISAC в 6G — совместная связь и зондирование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211E8-C64A-4084-8857-A120CE38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F14E8-2793-4438-AF99-7CE44F0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996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6G-инфраструктура становится сенсорной средой: базовые станции, edge-узлы, БПЛА и RIC-контур участвуют в обнаружении объектов.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7997A-2C5C-4C78-BA68-8F28C2C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907BE-7558-43BA-BBE8-444B6F4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996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Малоразмерный БПЛА имеет малую ЭПР, низкую высоту полета и высокую динамику; классические радары и оптика не всегда масштабируются.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5723B-78B3-4A85-BF44-02FA4F1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EC65E-7855-4600-9D25-79936B2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996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Для критического сервиса недостаточно доказать только радиофизическую достижимость обнаружения.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CF153-CFD1-4037-9616-8A309F76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600598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0277c1ab24ac2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B2EA8-0571-49B3-BBDB-2589EA2A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3FF55-6B66-4C55-AC15-8747D6F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12FB2-F25D-4532-B4D3-58012FAA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Научно-техническое противоречие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6724D-B3DB-4DCD-86E2-5F9896AB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200"/>
                </a:solidFill>
              </a:defRPr>
            </a:pPr>
            <a:r>
              <a:rPr sz="1875" b="1" i="0">
                <a:solidFill>
                  <a:srgbClr val="FFF200"/>
                </a:solidFill>
              </a:rPr>
              <a:t>Радиомодель отвечает: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710E1-1D2F-4626-B84F-23093426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476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038B8"/>
                </a:solidFill>
              </a:defRPr>
            </a:pPr>
            <a:r>
              <a:rPr sz="2025" b="0" i="0">
                <a:solidFill>
                  <a:srgbClr val="0038B8"/>
                </a:solidFill>
              </a:rPr>
              <a:t>может ли цель быть обнаружена</a:t>
            </a:r>
          </a:p>
          <a:p xmlns:a="http://schemas.openxmlformats.org/drawingml/2006/main">
            <a:pPr algn="l">
              <a:defRPr sz="2025" b="0" i="0">
                <a:solidFill>
                  <a:srgbClr val="0038B8"/>
                </a:solidFill>
              </a:defRPr>
            </a:pPr>
            <a:r>
              <a:rPr sz="2025" b="0" i="0">
                <a:solidFill>
                  <a:srgbClr val="0038B8"/>
                </a:solidFill>
              </a:rPr>
              <a:t>при заданных канале, луче,</a:t>
            </a:r>
          </a:p>
          <a:p xmlns:a="http://schemas.openxmlformats.org/drawingml/2006/main">
            <a:pPr algn="l">
              <a:defRPr sz="2025" b="0" i="0">
                <a:solidFill>
                  <a:srgbClr val="0038B8"/>
                </a:solidFill>
              </a:defRPr>
            </a:pPr>
            <a:r>
              <a:rPr sz="2025" b="0" i="0">
                <a:solidFill>
                  <a:srgbClr val="0038B8"/>
                </a:solidFill>
              </a:rPr>
              <a:t>SINR, Pd, Rfa, CRB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9CB84-610B-46DC-9AE7-7E167F2D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200"/>
                </a:solidFill>
              </a:defRPr>
            </a:pPr>
            <a:r>
              <a:rPr sz="1875" b="1" i="0">
                <a:solidFill>
                  <a:srgbClr val="FFF200"/>
                </a:solidFill>
              </a:rPr>
              <a:t>Формальная модель отвечает: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E25A-7E89-4F53-AAB2-2616ACE3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038B8"/>
                </a:solidFill>
              </a:defRPr>
            </a:pPr>
            <a:r>
              <a:rPr sz="2025" b="0" i="0">
                <a:solidFill>
                  <a:srgbClr val="0038B8"/>
                </a:solidFill>
              </a:rPr>
              <a:t>будет ли деградация обработана</a:t>
            </a:r>
          </a:p>
          <a:p xmlns:a="http://schemas.openxmlformats.org/drawingml/2006/main">
            <a:pPr algn="l">
              <a:defRPr sz="2025" b="0" i="0">
                <a:solidFill>
                  <a:srgbClr val="0038B8"/>
                </a:solidFill>
              </a:defRPr>
            </a:pPr>
            <a:r>
              <a:rPr sz="2025" b="0" i="0">
                <a:solidFill>
                  <a:srgbClr val="0038B8"/>
                </a:solidFill>
              </a:rPr>
              <a:t>в ограниченное время и дойдет ли</a:t>
            </a:r>
          </a:p>
          <a:p xmlns:a="http://schemas.openxmlformats.org/drawingml/2006/main">
            <a:pPr algn="l">
              <a:defRPr sz="2025" b="0" i="0">
                <a:solidFill>
                  <a:srgbClr val="0038B8"/>
                </a:solidFill>
              </a:defRPr>
            </a:pPr>
            <a:r>
              <a:rPr sz="2025" b="0" i="0">
                <a:solidFill>
                  <a:srgbClr val="0038B8"/>
                </a:solidFill>
              </a:rPr>
              <a:t>до SLA-видимого исхода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37342-AD74-494A-AC12-83F873E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48471-C57B-4930-A21A-5D86BC8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Ключевой разрыв: PHY/MAC-события могут быть корректны локально, но не иметь проверяемой связи с SDN/RIC-решением и уровнем сервиса.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C6619-010F-49A8-9B29-DC3A844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828916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4d103ccac40f7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70BED-B57C-4803-9B20-CF02F1F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ED7BB-98D1-4F8D-9DAD-BF6DE2EB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CA700-5B24-4051-8E34-0CD72CC2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Цель и задачи фрагмента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FD4D0-F770-48EF-97D5-1CB6779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036CC-A6A8-445B-B663-32F13D7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</a:defRPr>
            </a:pPr>
            <a:r>
              <a:rPr sz="1575" b="1" i="0">
                <a:solidFill>
                  <a:srgbClr val="000000"/>
                </a:solidFill>
              </a:rPr>
              <a:t>Цель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A93FB-2A7B-484B-A08A-9CEB8F64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52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Разработать формально-верификационную основу 6G-ISAC архитектуры для обнаружения малоразмерных БПЛА.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F6763-3452-4BE0-AFBA-99C3BCD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C06BA-BA0B-4AFD-8E54-AA22DE9D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</a:defRPr>
            </a:pPr>
            <a:r>
              <a:rPr sz="1575" b="1" i="0">
                <a:solidFill>
                  <a:srgbClr val="000000"/>
                </a:solidFill>
              </a:rPr>
              <a:t>Задача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EBA4A-2906-486E-A007-14313C4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56391-5EA0-44EB-A330-912F28BB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иерархическая timed-automata модель PHY–MAC–SDN/RIC–APP;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E4F10-F532-4FF4-8325-8FB265DF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E42AA-F49E-4D03-95AD-83814A74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консервативная абстракция непрерывных PHY-показателей в конечные классы;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F1A9B-9F60-4BAA-B25B-6AF48A89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7AABE-8BBF-48D7-9110-171ED3D5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проверка deadlock freedom, queue safety, bounded response и service-impact propagation;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D53FF-EC0F-4B1F-9B8D-B0D0B5DD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F0F99-12B6-49E7-BCE4-835CB4BC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связь формальной модели с последующими радиофизическими и имитационными задачами.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2AEFC-E003-4A13-B1B7-BFBD4B4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991225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2f33c9d4d4fda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91513-0A9C-4FBC-AB7F-05C325D9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41A0E-3974-4554-AC5F-ECEF281F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F8282-A960-46CE-950F-56A2C743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Глава 1: анализ существующих решений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581B0-B291-4A8E-A5B0-2E59A24B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73340-44CB-47B9-8B49-6E8520BB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30F13-F7C4-4E61-84F0-FBCA8533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6G / ISAC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C7C4C-84AA-4727-9A46-930604C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совместное использование ресурса связи и зондирования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F8DC6-56C1-46B6-8C7A-4C70921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64ABB-B594-487F-B431-D56ADD4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08F6B-19E3-4B39-AB23-2C6A350C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UAV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5A73C-5E16-40E4-B444-2BA357F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малая ЭПР, низкая высота, маневренность, городская среда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A82D9-35BF-4A51-A9D9-C3B51D0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5CF18-4FAB-427B-990C-2B6D952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05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08215-4250-44E7-8A54-67F6E1DE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PHY / beam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F2005-52B4-4436-9DDE-3D0F47A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mmWave/sub-THz, massive MIMO, beam training и tracking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449CF-4FF2-464D-B9F3-3DC6AA49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3CC95-5356-45B7-97D2-706504D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C430C-9C26-4721-8014-2FF3905E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SDN / 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5AA06-7E29-47CE-8F85-D8D5210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оркестрация ресурсов, rule miss, recovery, 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23F6F-6C6D-44A7-A387-C724E21F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95500"/>
            <a:ext cx="1981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1E2E4-E745-4E9A-8343-4D6541BC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05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E3362-CEDC-4C89-87D3-A9BC8FE1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Formal methods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41647-82F6-4D31-96F6-2586AEBC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timed automata, UPPAAL, assume-guarantee contracts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3B47D-6D5A-4A50-B26B-5DC3FEB0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Итог обзора: проблема не сводится к выбору waveform или антенны; требуется проверяемая кросс-уровневая логика управления.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273B8-9784-4BA3-8518-CE871F6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940093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58d78284e40fa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99E85-093A-4D7F-9585-F05B30A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2F5B9-9EC5-400F-AB27-B947E2C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6ACC3-0CFD-4070-9B73-AD0B2CEC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38B8"/>
                </a:solidFill>
              </a:defRPr>
            </a:pPr>
            <a:r>
              <a:rPr sz="2550" b="1" i="0">
                <a:solidFill>
                  <a:srgbClr val="0038B8"/>
                </a:solidFill>
              </a:rPr>
              <a:t>Глава 2: предлагаемая архитектура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34D73-D130-4D52-98E1-F5CC8EF5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383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7D390-6217-4384-AFA2-63B9F173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</a:defRPr>
            </a:pPr>
            <a:r>
              <a:rPr sz="1650" b="1" i="0">
                <a:solidFill>
                  <a:srgbClr val="000000"/>
                </a:solidFill>
              </a:rPr>
              <a:t>Application / SLA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BBF22-3FC0-4618-845B-E89362F8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240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00"/>
                </a:solidFill>
              </a:defRPr>
            </a:pPr>
            <a:r>
              <a:rPr sz="1425" b="0" i="0">
                <a:solidFill>
                  <a:srgbClr val="000000"/>
                </a:solidFill>
              </a:rPr>
              <a:t>ServiceImpact, Accepted / Degraded / Rejected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1B8E2-1222-4317-9D34-C8CB691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8122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4279A-1423-403C-8AAD-914F9DB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193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038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1A6E-BD94-4196-8291-7E623743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SDN / RIC 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70233-149A-4893-B353-B2C594FB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050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38B8"/>
                </a:solidFill>
              </a:defRPr>
            </a:pPr>
            <a:r>
              <a:rPr sz="1425" b="0" i="0">
                <a:solidFill>
                  <a:srgbClr val="0038B8"/>
                </a:solidFill>
              </a:rPr>
              <a:t>Policy selection, rule miss, recovery, rollback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440C6-1E4F-44E9-A9A6-DC03A3F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622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81DDA-7F25-4C27-A4E3-70F74A5C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04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03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AB35-3553-44D7-BC37-15D6A4A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76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MAC / resource scheduling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013C5-6AE4-4628-AE2E-B5BCF4BA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38B8"/>
                </a:solidFill>
              </a:defRPr>
            </a:pPr>
            <a:r>
              <a:rPr sz="1425" b="0" i="0">
                <a:solidFill>
                  <a:srgbClr val="0038B8"/>
                </a:solidFill>
              </a:rPr>
              <a:t>Sensing boost, constrained mode, queue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95373-DBB2-4316-9E85-EEA52E45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4332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58D35-5E46-4414-AE71-784B844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814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038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0054F-78DE-4B43-B353-D4AC054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57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PHY abstraction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ADC35-660F-4889-B077-CA9FFDB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671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38B8"/>
                </a:solidFill>
              </a:defRPr>
            </a:pPr>
            <a:r>
              <a:rPr sz="1425" b="0" i="0">
                <a:solidFill>
                  <a:srgbClr val="0038B8"/>
                </a:solidFill>
              </a:rPr>
              <a:t>PdClass, RfaClass, CRBClass, BeamState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98ADF-AEB6-4C5A-B0FD-2CDA4D7E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243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F1D49-1A33-490D-BE57-8DFECDC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625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0038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EE01E-B53F-424C-A0EB-CEB7F70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38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Physical environment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B4C50-D08D-4C0B-947A-F4985A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482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38B8"/>
                </a:solidFill>
              </a:defRPr>
            </a:pPr>
            <a:r>
              <a:rPr sz="1425" b="0" i="0">
                <a:solidFill>
                  <a:srgbClr val="0038B8"/>
                </a:solidFill>
              </a:rPr>
              <a:t>канал, цель, помехи, внешние PHY-estimators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3BA08-0F1E-4D4D-94C0-CDCBF1CF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10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События поднимаются вверх; команды управления и политики возвращаются вниз.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311C0-0A5F-483C-BAB2-6EC03EA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590708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4ecb432f34a1e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407EA-D9B3-4208-A06E-5B7B675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487-44CE-4176-9E97-06F06DC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F56A-EBC9-45F8-A736-E7368F8A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Формальная модель timed automata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61F01-AA80-4C21-8EB6-A0255C0B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0D649-92FF-4234-8B45-F6452747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A = A_PHY || A_MAC || A_SDN || A_APP || A_ENV || A_OBS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4A29-7556-4E35-AE4D-EDC2CA6C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43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A7A7A7"/>
                </a:solidFill>
              </a:defRPr>
            </a:pPr>
            <a:r>
              <a:rPr sz="1350" b="0" i="0">
                <a:solidFill>
                  <a:srgbClr val="A7A7A7"/>
                </a:solidFill>
              </a:rPr>
              <a:t>(2.2.1)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99F8-96AE-455F-BFCC-D0481C64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9FC90-485B-4132-8D4D-19B3C952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e = (l, g, a, r, u, l')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08257-DB2F-4168-954E-1CAE4F12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A7A7A7"/>
                </a:solidFill>
              </a:defRPr>
            </a:pPr>
            <a:r>
              <a:rPr sz="1350" b="0" i="0">
                <a:solidFill>
                  <a:srgbClr val="A7A7A7"/>
                </a:solidFill>
              </a:rPr>
              <a:t>(2.2.2)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8557B-15C0-4FE7-A18C-7BF606BD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8650E-3B07-40DC-84E7-F383579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910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Handshake-каналы: команды и подтверждения, где требуется согласование отправителя и получателя.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0376A-EDB2-41CC-BE3D-C1407F6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76923-9023-481E-AACE-9EEAA13B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910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Broadcast-каналы: события деградации, отчеты PHY и уведомления о service impact.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1846B-16B0-4DC3-9FE5-20373700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3741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31dd278e54c6e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53E4F-5DBB-4457-9098-7C79ACF8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79158-28E5-462D-9D95-95A2E543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76D18-98E7-4E3E-8D54-FDEAC110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Контрактная формализация PHY-уровня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3564-94A2-4DE2-B856-196BDB45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1A497-F49C-4D77-8264-3BA91865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BBF72-8B3A-4D7A-A3AE-7881A2D9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</a:defRPr>
            </a:pPr>
            <a:r>
              <a:rPr sz="1425" b="1" i="0">
                <a:solidFill>
                  <a:srgbClr val="000000"/>
                </a:solidFill>
              </a:rPr>
              <a:t>A_CH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08D01-A907-434C-9C56-662C5A1C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38B8"/>
                </a:solidFill>
              </a:defRPr>
            </a:pPr>
            <a:r>
              <a:rPr sz="1500" b="0" i="0">
                <a:solidFill>
                  <a:srgbClr val="0038B8"/>
                </a:solidFill>
              </a:rPr>
              <a:t>канал: normal, degraded, outage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3F1A2-54B5-4A69-8DF2-A6B1465A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ABB6B-8965-4E31-8BB8-23279412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A4531-760C-4DC2-8F50-F8A6CC9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</a:defRPr>
            </a:pPr>
            <a:r>
              <a:rPr sz="1425" b="1" i="0">
                <a:solidFill>
                  <a:srgbClr val="000000"/>
                </a:solidFill>
              </a:rPr>
              <a:t>A_SIG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5CBE6-9D95-48BB-BF69-1477DF18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38B8"/>
                </a:solidFill>
              </a:defRPr>
            </a:pPr>
            <a:r>
              <a:rPr sz="1500" b="0" i="0">
                <a:solidFill>
                  <a:srgbClr val="0038B8"/>
                </a:solidFill>
              </a:rPr>
              <a:t>waveform / pilot / payload-assisted sensing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C7BD8-347F-4FCB-836F-F771F26E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7E695-E36F-4C76-8736-C12D467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B127B-F6A8-4BBA-BB02-6085089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</a:defRPr>
            </a:pPr>
            <a:r>
              <a:rPr sz="1425" b="1" i="0">
                <a:solidFill>
                  <a:srgbClr val="000000"/>
                </a:solidFill>
              </a:rPr>
              <a:t>A_BM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FBEFF-9E37-4E3B-942E-C85EA74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38B8"/>
                </a:solidFill>
              </a:defRPr>
            </a:pPr>
            <a:r>
              <a:rPr sz="1500" b="0" i="0">
                <a:solidFill>
                  <a:srgbClr val="0038B8"/>
                </a:solidFill>
              </a:rPr>
              <a:t>beam acquired, tracking, misaligned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CE999-0E5F-4BE7-8FD9-A68C171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D8255-653D-42D6-AFAB-28C5985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91F20-FFE0-487F-8A68-80DB8A43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</a:defRPr>
            </a:pPr>
            <a:r>
              <a:rPr sz="1425" b="1" i="0">
                <a:solidFill>
                  <a:srgbClr val="000000"/>
                </a:solidFill>
              </a:rPr>
              <a:t>A_SQ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67A89-0B49-4580-B99D-021C445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38B8"/>
                </a:solidFill>
              </a:defRPr>
            </a:pPr>
            <a:r>
              <a:rPr sz="1500" b="0" i="0">
                <a:solidFill>
                  <a:srgbClr val="0038B8"/>
                </a:solidFill>
              </a:rPr>
              <a:t>sensing quality: OK, limited, failed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FAF5F-0BF5-4C44-95FF-5D52506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D4998-5704-4631-97D9-4C2BC06B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5992F-2457-4A0B-B6FF-FA83CE4E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</a:defRPr>
            </a:pPr>
            <a:r>
              <a:rPr sz="1425" b="1" i="0">
                <a:solidFill>
                  <a:srgbClr val="000000"/>
                </a:solidFill>
              </a:rPr>
              <a:t>A_PH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DBC45-EA7B-41D5-B0D4-3373B7EA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38B8"/>
                </a:solidFill>
              </a:defRPr>
            </a:pPr>
            <a:r>
              <a:rPr sz="1500" b="0" i="0">
                <a:solidFill>
                  <a:srgbClr val="0038B8"/>
                </a:solidFill>
              </a:rPr>
              <a:t>агрегированный PHY-report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7C0E7-9CD2-42C8-B2D5-5AF43BAD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101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72A26-7B4E-4B26-B6E7-5C4F7C0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C_i = (Ass_i, Gar_i)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9F3BC-0932-4946-8DE2-12B8A2D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38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A7A7A7"/>
                </a:solidFill>
              </a:defRPr>
            </a:pPr>
            <a:r>
              <a:rPr sz="1350" b="0" i="0">
                <a:solidFill>
                  <a:srgbClr val="A7A7A7"/>
                </a:solidFill>
              </a:rPr>
              <a:t>(2.3.2)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2624D-6411-460B-88F3-1502834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293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PHY не вычисляет SINR/Pd/CRB внутри automata; он публикует конечные классы состояния.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1B767-833B-4E09-8CFA-7EC5B831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93336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620e014be4baa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C7785-977E-4F3C-AC09-752D5468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0BA43-0B1B-42BA-B5DA-256CA2F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CEC57-12E0-4366-A605-A9E7467E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Консервативная PHY-абстракция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71E78-D102-435B-B84F-E68E7529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D780-F14C-4D57-8981-9684B46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α_PHY : X_meas × X_cfg × X_ctx → C_PHY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CC2F5-AF90-4623-91CC-C058B84D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A7A7A7"/>
                </a:solidFill>
              </a:defRPr>
            </a:pPr>
            <a:r>
              <a:rPr sz="1350" b="0" i="0">
                <a:solidFill>
                  <a:srgbClr val="A7A7A7"/>
                </a:solidFill>
              </a:rPr>
              <a:t>(2.4.1)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E5DA5-4903-437C-88AF-C5A87304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BAEC9-B803-43DB-B11B-423B698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x ∈ boundary(C_good, C_bad) ⇒ α_PHY(x) = C_bad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0C79D-FA74-4069-AE2F-DDB4EED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A7A7A7"/>
                </a:solidFill>
              </a:defRPr>
            </a:pPr>
            <a:r>
              <a:rPr sz="1350" b="0" i="0">
                <a:solidFill>
                  <a:srgbClr val="A7A7A7"/>
                </a:solidFill>
              </a:rPr>
              <a:t>(2.4.2)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5A5BA-86E4-4F5D-BB5F-04C4287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EF6DA-0EE7-4025-B716-AAB4D73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96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</a:defRPr>
            </a:pPr>
            <a:r>
              <a:rPr sz="1575" b="1" i="0">
                <a:solidFill>
                  <a:srgbClr val="000000"/>
                </a:solidFill>
              </a:rPr>
              <a:t>Пример конечных классов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88062-31D7-44C2-9E3A-7820929C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819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PdClass ∈ {OK, LOW, FAILED}</a:t>
            </a:r>
          </a:p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CRBClass ∈ {TIGHT, LOOSE, UNUSABLE}</a:t>
            </a:r>
          </a:p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BeamState ∈ {ACQUIRED, TRACKING, MISALIGNED, FAILED}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A0C38-E0B1-4875-9409-3B9E1DEF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81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Пограничные случаи относятся к неблагоприятному классу, чтобы model checking проверял управление с запасом.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896AA-A133-417F-B779-776EC4FE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140446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b13f4506425d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8D3F4-2960-44A4-A0AD-CC053F66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3604F-5A6D-470C-B398-A90863ED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8BA56-21C2-41EF-AA73-9CF82B1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SDN/RIC-оркестрация ресурсов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239F2-5985-49D4-986F-63A18B3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E2EDD-CC8D-4683-83A4-60ED03EB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</a:defRPr>
            </a:pPr>
            <a:r>
              <a:rPr sz="255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9AA12-F822-4B4F-8073-C32E32D2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33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38B8"/>
                </a:solidFill>
              </a:defRPr>
            </a:pPr>
            <a:r>
              <a:rPr sz="1650" b="1" i="0">
                <a:solidFill>
                  <a:srgbClr val="0038B8"/>
                </a:solidFill>
              </a:rPr>
              <a:t>PHY/MAC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72509-82F5-459F-A90B-B3C1B51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904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1EA24-358F-4F0A-B97C-0790989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887AE-D9F7-4DB0-9E64-65F93245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</a:defRPr>
            </a:pPr>
            <a:r>
              <a:rPr sz="255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30D05-14C5-4B78-9120-75BFF6B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38B8"/>
                </a:solidFill>
              </a:defRPr>
            </a:pPr>
            <a:r>
              <a:rPr sz="1650" b="1" i="0">
                <a:solidFill>
                  <a:srgbClr val="0038B8"/>
                </a:solidFill>
              </a:rPr>
              <a:t>Policy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E074E-80CA-4DD2-A971-24B639E1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71750"/>
            <a:ext cx="904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FE7EE-29DB-40AF-A7DC-0D282B5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FDD91-5F1E-4834-87C8-D99F273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62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</a:defRPr>
            </a:pPr>
            <a:r>
              <a:rPr sz="255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8A4AA-42FC-4DE7-95DE-643802B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38B8"/>
                </a:solidFill>
              </a:defRPr>
            </a:pPr>
            <a:r>
              <a:rPr sz="1650" b="1" i="0">
                <a:solidFill>
                  <a:srgbClr val="0038B8"/>
                </a:solidFill>
              </a:rPr>
              <a:t>Rule install / 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94BEC-B17E-4960-B181-3403D55B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904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88995-E64B-4E82-B953-86C2C854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0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B4DFA-857C-4F19-BE1D-644A44DA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</a:defRPr>
            </a:pPr>
            <a:r>
              <a:rPr sz="255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D1EE1-001F-4BAA-A4D7-6AFA6ADE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38B8"/>
                </a:solidFill>
              </a:defRPr>
            </a:pPr>
            <a:r>
              <a:rPr sz="1650" b="1" i="0">
                <a:solidFill>
                  <a:srgbClr val="0038B8"/>
                </a:solidFill>
              </a:rPr>
              <a:t>Recovery / 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6BE2F-6863-4602-9073-E1CA5AF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904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4328C-E9DC-4EFE-939D-08EA68E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9A292-7934-4769-ABB8-F3EED9B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62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</a:defRPr>
            </a:pPr>
            <a:r>
              <a:rPr sz="255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99538-0C66-44C9-82D3-8A02309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38B8"/>
                </a:solidFill>
              </a:defRPr>
            </a:pPr>
            <a:r>
              <a:rPr sz="1650" b="1" i="0">
                <a:solidFill>
                  <a:srgbClr val="0038B8"/>
                </a:solidFill>
              </a:rPr>
              <a:t>SLA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5170B-E966-4E9E-BD48-2F8FFA67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EC8C3-7DD7-4713-B7B4-59DEA47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901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rule miss и failure recovery не остаются локальными событиями;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64C3B-99EC-40F7-A669-0A2FA8B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F598D7-9E61-442C-89BA-3C23761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86350"/>
            <a:ext cx="901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для активного critical service ServiceImpact не может оставаться NONE;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189B1-3688-4BD2-89CA-51229D33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673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61A45B-AEB7-421C-B36D-7725409E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43550"/>
            <a:ext cx="901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исход сервиса должен быть accepted, degraded, recovered или rejected.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C3C299-DC96-4ED5-9915-245D154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713132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adbe2ea4b4c98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475B-B583-444B-9F3F-55318B2B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6AC36-4473-41A1-8858-3566A52F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29A7B-78CE-4B4A-A150-B3C652C5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Верификационные свойства в UPPAAL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23DEA-C827-433E-A7B2-05CC7B1B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185A3-0BA3-4691-83E0-FCCDFD48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8846E-A26B-4984-B6DD-4363CDF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Deadlock freedom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FF7F6-BF27-4DE3-B694-0DC5F6F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A[] not deadlock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F8377-333F-455F-B592-2CC95791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57C15-6F99-43B5-BC08-BDCB7995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9D008-9CD1-4728-A05C-2AD15566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Queue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E8458-0341-49FF-9573-9F7F5996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A[] queue_len ≤ Qmax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CE7DD-94DE-4B06-BB7F-E6E1FD1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D7D29-DB74-4049-ACA7-0E47C14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125C8-0CB1-47BC-B017-6607018F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Bounded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EE777-2C54-406B-93BB-CC0A3EC2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event_k ⇒ response_k within D_k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FA654-A536-4989-921A-8B53A38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01187-1CA1-4284-8B81-4969F5A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5E5F0-57C9-44AD-9E7C-A3306A4F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Reachability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98942-F427-428C-ADC1-82C83D2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E&lt;&gt; Recovery, Rollback, SensingBoost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54194-487C-46B7-A3B7-0399866E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000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93FCD-6517-4A83-B5E5-3A4CE8FF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93D64-EC8C-4993-BA84-10CDBCFF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</a:defRPr>
            </a:pPr>
            <a:r>
              <a:rPr sz="1350" b="1" i="0">
                <a:solidFill>
                  <a:srgbClr val="000000"/>
                </a:solidFill>
              </a:rPr>
              <a:t>Cross-layer consistency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0C00C-87B3-45C6-AB12-BDF9ED4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38B8"/>
                </a:solidFill>
              </a:defRPr>
            </a:pPr>
            <a:r>
              <a:rPr sz="1575" b="0" i="0">
                <a:solidFill>
                  <a:srgbClr val="0038B8"/>
                </a:solidFill>
              </a:rPr>
              <a:t>critical degradation ⇒ ServiceImpact ≠ NONE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691F5-F8D7-4A61-A227-5E2003FF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5935611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8d04c1802424e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F2B81-1A3C-4039-BF6D-0172B8A7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64D59-E0D3-4285-8744-7E8D9202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E45C2-A930-4939-9487-001BA690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Сценарий работы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EC6E-8764-45A7-BF8D-F6F6B3A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3499A-0EFB-40EE-AB87-BD3AE3B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Оценка PHY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30F8B-4D5E-4FC2-A0FE-6CEEDF1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71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SINR, Pd, Rfa, CRB, AoS, beam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99A28-9FC2-481D-9425-B757A52B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6DAD7-E026-4785-ABDE-31497B4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5E8A8-547F-44A6-A206-57F91D8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Классификация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51AD8-05E8-4903-B436-A4531E9D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α_PHY переводит метрики в конечные классы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51E57-C101-4178-911B-29B49FE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1B03F-B84D-4397-ADA7-6909EAC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41C94-306F-4F2B-B52C-0C01F7C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MAC-решение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DF633-6462-42B5-9210-9F822FA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boost / constrained / queue-safe scheduling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2E647-1BAB-4380-BEA2-341AB562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78333-6A88-4CD8-BCE7-C7AFB19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362DA-C139-4D80-BEA2-BDEC21A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SDN/RIC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B9F01-DC1A-486C-9F6F-939E88C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rule install, recovery, 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797B6-CC5E-4CD0-9EFE-F685432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0A4B"/>
          </a:solidFill>
          <a:ln xmlns:a="http://schemas.openxmlformats.org/drawingml/2006/main" w="9525">
            <a:solidFill>
              <a:srgbClr val="F20A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B423D-A951-4CF1-B1B3-62E1CA6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7F5CF-A1AD-4E91-B617-2F28E0AD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SLA-исход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155C5-A431-4461-B91F-66076D0A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accepted, degraded, recovered, rejected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DCBCE-89B5-438B-BCB0-CC04492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303262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7f81fc6bf4864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6A822-0382-492F-9741-9288D0C6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F302C-EC35-4CB5-BF53-2E77F2B6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82D78-AA49-4181-82F4-4D28501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Научная новизна и вклад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AC9A7-73E0-4C43-B8A4-1F0C4E08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2213-0386-4C51-80C4-BC21E6D8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9772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Верификационно-ориентированная кросс-уровневая модель PHY–MAC–SDN/RIC–APP для 6G-ISAC обнаружения БПЛА.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BFFB7-9C8B-4268-9748-21E0381A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C9009-21D1-4FB9-A077-42C2D9AE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9772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Контрактная PHY-формализация: непрерывные радиофизические показатели вынесены во внешний estimator и консервативно дискретизируются.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8AAAE-CC3D-4283-A289-D9E53FCA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99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61577-F00E-473F-8BD6-41E43743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9772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Фиксация service-impact propagation: техническая деградация не может быть скрыта от SLA-уровня.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62213-105F-4AB6-AC24-95941E0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45D22-12FC-46AB-869C-1FD40BCA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9772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038B8"/>
                </a:solidFill>
              </a:defRPr>
            </a:pPr>
            <a:r>
              <a:rPr sz="1875" b="0" i="0">
                <a:solidFill>
                  <a:srgbClr val="0038B8"/>
                </a:solidFill>
              </a:rPr>
              <a:t>Основа для последующих имитационных моделей каналов, beam management и цифрового полигона.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B4437-C6FB-495C-B399-0E18C02B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4426356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807c2d1d8413b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BA4D0-8FFF-4C63-B1E1-006E2F74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F4EC-33DE-4F1F-A4B7-517D219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531EB-FD7E-4E97-B357-1DBC3ABF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Публикация и текущий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AF314-2AAD-4BB0-A31B-9D29C135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D3B18-026F-4DF0-B259-3A9EA99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</a:defRPr>
            </a:pPr>
            <a:r>
              <a:rPr sz="1575" b="1" i="0">
                <a:solidFill>
                  <a:srgbClr val="000000"/>
                </a:solidFill>
              </a:rPr>
              <a:t>Подготовленная статья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CB0D3-CCA7-4574-A729-0662D14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Mustafin A., Tinishov V. “A Hierarchical Timed-Automata Model for SDN-Managed Resource Orchestration in 6G ISAC Networks”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2BF38-E77B-42A2-ACEA-09BB14EF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243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CFF40-2BCC-4FED-9A1F-CE8377F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статья ожидает уведомления о принятии на MoNeTec 2026;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21F04-6A14-4833-BC10-FD1C7D51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95B64-F592-4A75-A624-DA8E047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при принятии публикация планируется в издательстве Springer;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FC3FA-1B39-4EEC-894C-E12CD661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288AC-5C31-4E60-A370-31A57CF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901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38B8"/>
                </a:solidFill>
              </a:defRPr>
            </a:pPr>
            <a:r>
              <a:rPr sz="1800" b="0" i="0">
                <a:solidFill>
                  <a:srgbClr val="0038B8"/>
                </a:solidFill>
              </a:rPr>
              <a:t>материал интегрирован в диссертацию как задача 1 и теоретическая основа главы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5F9C9-482D-4E93-A017-1F10B1E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4080471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cfa5fc8994283"/>
          <a:stretch xmlns:a="http://schemas.openxmlformats.org/drawingml/2006/main"/>
        </p:blipFill>
        <p:spPr>
          <a:xfrm xmlns:a="http://schemas.openxmlformats.org/drawingml/2006/main">
            <a:off x="323850" y="249603"/>
            <a:ext cx="2428875" cy="52949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136B5-9609-44DC-8D69-6377D4E4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A43CC"/>
                </a:solidFill>
              </a:defRPr>
            </a:pPr>
            <a:r>
              <a:rPr sz="1200" b="0" i="0">
                <a:solidFill>
                  <a:srgbClr val="1A43CC"/>
                </a:solidFill>
              </a:rPr>
              <a:t>Промежуточная аттестация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DB02-5F78-4743-9E80-66D3D398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49C18-E45D-4B98-8361-D5C0408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8B8"/>
                </a:solidFill>
              </a:defRPr>
            </a:pPr>
            <a:r>
              <a:rPr sz="2700" b="1" i="0">
                <a:solidFill>
                  <a:srgbClr val="0038B8"/>
                </a:solidFill>
              </a:rPr>
              <a:t>Дальнейшие этапы исследования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A3C16-75B1-4924-9515-7E5D3EA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9525">
            <a:solidFill>
              <a:srgbClr val="FFF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541FA-04AE-4987-842B-AB6D2F05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</a:defRPr>
            </a:pPr>
            <a:r>
              <a:rPr sz="1575" b="1" i="0">
                <a:solidFill>
                  <a:srgbClr val="000000"/>
                </a:solidFill>
              </a:rPr>
              <a:t>Модели каналов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FA46E-4F69-4C73-AC30-F581583C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38B8"/>
                </a:solidFill>
              </a:defRPr>
            </a:pPr>
            <a:r>
              <a:rPr sz="1725" b="0" i="0">
                <a:solidFill>
                  <a:srgbClr val="0038B8"/>
                </a:solidFill>
              </a:rPr>
              <a:t>воздух-земля, воздух-воздух, mmWave/sub-THz/THz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97EC9-7CCB-4773-BC82-26A1FBC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CB8BB-43A0-40D1-A5DB-1CF45E4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Эхо-сигналы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53D29-A446-475B-A0F2-C2D32A6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38B8"/>
                </a:solidFill>
              </a:defRPr>
            </a:pPr>
            <a:r>
              <a:rPr sz="1725" b="0" i="0">
                <a:solidFill>
                  <a:srgbClr val="0038B8"/>
                </a:solidFill>
              </a:rPr>
              <a:t>Pd, Rfa, CRB, sensing SINR для малоразмерных целей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549F2-8CDA-4475-8CFF-1D6054C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51622-8491-4D63-AEF5-8DFCF2C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Beam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C9B6D-D92E-489B-A30A-63EB58BF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38B8"/>
                </a:solidFill>
              </a:defRPr>
            </a:pPr>
            <a:r>
              <a:rPr sz="1725" b="0" i="0">
                <a:solidFill>
                  <a:srgbClr val="0038B8"/>
                </a:solidFill>
              </a:rPr>
              <a:t>training, tracking, prediction при движении БПЛА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7AE2E-3E1C-4162-9DE1-41A70CE2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81F06-EC72-4D82-8030-32306BEC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Антенная система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B8B56-DF62-462A-BD58-A6CAD64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9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38B8"/>
                </a:solidFill>
              </a:defRPr>
            </a:pPr>
            <a:r>
              <a:rPr sz="1725" b="0" i="0">
                <a:solidFill>
                  <a:srgbClr val="0038B8"/>
                </a:solidFill>
              </a:rPr>
              <a:t>ФАР, hybrid MIMO, масса, энергия, аэродинамика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588C4-6B4E-42CB-BBCF-1F63F55C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F4353-BAEA-4AF9-8065-8D4BB21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Цифровой полигон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1DBD1-4D82-4C59-93DF-A83FFFC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38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38B8"/>
                </a:solidFill>
              </a:defRPr>
            </a:pPr>
            <a:r>
              <a:rPr sz="1725" b="0" i="0">
                <a:solidFill>
                  <a:srgbClr val="0038B8"/>
                </a:solidFill>
              </a:rPr>
              <a:t>сопоставление радиофизики, SDN/RIC и UPPAAL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69607-E3DD-4137-95B6-341344EE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40B8"/>
                </a:solidFill>
              </a:defRPr>
            </a:pPr>
            <a:r>
              <a:rPr sz="1050" b="0" i="0">
                <a:solidFill>
                  <a:srgbClr val="1740B8"/>
                </a:solidFill>
              </a:rPr>
              <a:t>Тинишов В. С. | 6G-ISAC для обнаружения малоразмерных БПЛА</a:t>
            </a:r>
          </a:p>
        </p:txBody>
      </p:sp>
    </p:spTree>
    <p:extLst>
      <p:ext uri="{BB962C8B-B14F-4D97-AF65-F5344CB8AC3E}">
        <p14:creationId xmlns:p14="http://schemas.microsoft.com/office/powerpoint/2010/main" val="11410092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e591510774bd4"/>
          <a:stretch xmlns:a="http://schemas.openxmlformats.org/drawingml/2006/main"/>
        </p:blipFill>
        <p:spPr>
          <a:xfrm xmlns:a="http://schemas.openxmlformats.org/drawingml/2006/main">
            <a:off x="1412110" y="495300"/>
            <a:ext cx="1652530" cy="6858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84643f16e4147"/>
          <a:stretch xmlns:a="http://schemas.openxmlformats.org/drawingml/2006/main"/>
        </p:blipFill>
        <p:spPr>
          <a:xfrm xmlns:a="http://schemas.openxmlformats.org/drawingml/2006/main">
            <a:off x="8620125" y="15430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7077B-E2DE-4E4D-910C-4673A56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200"/>
                </a:solidFill>
              </a:defRPr>
            </a:pPr>
            <a:r>
              <a:rPr sz="3000" b="1" i="0">
                <a:solidFill>
                  <a:srgbClr val="FFF200"/>
                </a:solidFill>
              </a:rPr>
              <a:t>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35AD7-50DC-4B15-B442-261708C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38B8"/>
                </a:solidFill>
              </a:defRPr>
            </a:pPr>
            <a:r>
              <a:rPr sz="2475" b="1" i="0">
                <a:solidFill>
                  <a:srgbClr val="0038B8"/>
                </a:solidFill>
              </a:rPr>
              <a:t>Разработанный фрагмент диссертации формирует задачу 1: проверяемую архитектурную основу 6G-ISAC сервиса обнаружения БПЛА.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0FA14-89A3-4321-AA43-FE6DC264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Формальная модель не заменяет радиофизику, а связывает ее результаты с MAC, SDN/RIC и SLA-видимым сервисным исходом.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B68F-7B9B-4818-B6D6-CEFEBEBD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200"/>
                </a:solidFill>
              </a:defRPr>
            </a:pPr>
            <a:r>
              <a:rPr sz="2250" b="1" i="0">
                <a:solidFill>
                  <a:srgbClr val="FFF200"/>
                </a:solidFill>
              </a:rPr>
              <a:t>Спасибо за внимание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5EEB8-D72B-4D03-BE15-88EFE943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A7A7A7"/>
                </a:solidFill>
              </a:defRPr>
            </a:pPr>
            <a:r>
              <a:rPr sz="1200" b="0" i="0">
                <a:solidFill>
                  <a:srgbClr val="A7A7A7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2322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2026-06-23T05:04:52.9050000Z</dcterms:created>
  <dcterms:modified xsi:type="dcterms:W3CDTF">2026-06-23T05:04:52.9050000Z</dcterms:modified>
</coreProperties>
</file>