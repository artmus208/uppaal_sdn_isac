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3200" b="1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F3467AA-4631-4C32-88F1-E030FADF27D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4" name="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лавие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3640" cy="791640"/>
          </a:xfrm>
          <a:prstGeom prst="rect">
            <a:avLst/>
          </a:prstGeom>
          <a:solidFill>
            <a:srgbClr val="0230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-865080" y="5511960"/>
            <a:ext cx="18360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pic>
        <p:nvPicPr>
          <p:cNvPr id="4" name=""/>
          <p:cNvPicPr/>
          <p:nvPr/>
        </p:nvPicPr>
        <p:blipFill>
          <a:blip r:embed="rId2"/>
          <a:stretch/>
        </p:blipFill>
        <p:spPr>
          <a:xfrm>
            <a:off x="0" y="0"/>
            <a:ext cx="36302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1236240"/>
            <a:ext cx="8227800" cy="825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3200" b="1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2260440"/>
            <a:ext cx="8227800" cy="3863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1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2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3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4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5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6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1"/>
          </p:nvPr>
        </p:nvSpPr>
        <p:spPr>
          <a:xfrm>
            <a:off x="4030560" y="247680"/>
            <a:ext cx="4654440" cy="363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Segoe U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лавие9">
    <p:bg>
      <p:bgPr>
        <a:solidFill>
          <a:srgbClr val="0230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9143640" cy="791640"/>
          </a:xfrm>
          <a:prstGeom prst="rect">
            <a:avLst/>
          </a:prstGeom>
          <a:solidFill>
            <a:srgbClr val="0230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-865080" y="5511960"/>
            <a:ext cx="18360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pic>
        <p:nvPicPr>
          <p:cNvPr id="10" name=""/>
          <p:cNvPicPr/>
          <p:nvPr/>
        </p:nvPicPr>
        <p:blipFill>
          <a:blip r:embed="rId2"/>
          <a:stretch/>
        </p:blipFill>
        <p:spPr>
          <a:xfrm>
            <a:off x="0" y="0"/>
            <a:ext cx="36302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"/>
          <p:cNvPicPr/>
          <p:nvPr/>
        </p:nvPicPr>
        <p:blipFill>
          <a:blip r:embed="rId3"/>
          <a:stretch/>
        </p:blipFill>
        <p:spPr>
          <a:xfrm>
            <a:off x="3086280" y="763560"/>
            <a:ext cx="2971440" cy="123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1236240"/>
            <a:ext cx="8227800" cy="8251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3200" b="1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260440"/>
            <a:ext cx="8227800" cy="3863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1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2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3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4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5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6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лавие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9143640" cy="791640"/>
          </a:xfrm>
          <a:prstGeom prst="rect">
            <a:avLst/>
          </a:prstGeom>
          <a:solidFill>
            <a:srgbClr val="0230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-865080" y="5511960"/>
            <a:ext cx="18360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2"/>
          <a:stretch/>
        </p:blipFill>
        <p:spPr>
          <a:xfrm>
            <a:off x="0" y="0"/>
            <a:ext cx="36302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6840" y="1236600"/>
            <a:ext cx="8224560" cy="8218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3200" b="1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6840" y="2260080"/>
            <a:ext cx="8224560" cy="38606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1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2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3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4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5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6" indent="-34308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2"/>
          </p:nvPr>
        </p:nvSpPr>
        <p:spPr>
          <a:xfrm>
            <a:off x="4030200" y="247320"/>
            <a:ext cx="46512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Segoe UI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лавие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0230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-865080" y="5511960"/>
            <a:ext cx="1839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2"/>
          <a:stretch/>
        </p:blipFill>
        <p:spPr>
          <a:xfrm>
            <a:off x="0" y="0"/>
            <a:ext cx="3630600" cy="79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6840" y="1236600"/>
            <a:ext cx="8224920" cy="822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3200" b="1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6840" y="2260080"/>
            <a:ext cx="8224920" cy="3861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1pPr>
            <a:lvl2pPr marL="343080" lvl="1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2pPr>
            <a:lvl3pPr marL="343080" lvl="2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3pPr>
            <a:lvl4pPr marL="343080" lvl="3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4pPr>
            <a:lvl5pPr marL="343080" lvl="4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5pPr>
            <a:lvl6pPr marL="343080" lvl="5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6pPr>
            <a:lvl7pPr marL="343080" lvl="6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499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1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2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3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4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5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  <a:p>
            <a:pPr marL="343080" lvl="6" indent="-343080" algn="l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2000" b="0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230AC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3"/>
          </p:nvPr>
        </p:nvSpPr>
        <p:spPr>
          <a:xfrm>
            <a:off x="4030200" y="247320"/>
            <a:ext cx="4651560" cy="360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Segoe UI"/>
              </a:rPr>
              <a:t>Аспирантура как уровень высшего образования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30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4487760" y="247680"/>
            <a:ext cx="4655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0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Аспирантура как уровень высшего образования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07960" y="2379600"/>
            <a:ext cx="8096040" cy="40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23 июня 2026 года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аттестация аспиранта 1-го года обучения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группы 7762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Тинишова Вадима Сергеевича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«Исследование и разработка моделей и методов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интегрированного зондирования пространства в 6G-сетях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для обнаружения малоразмерных летательных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аппаратов»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тема диссертации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Научный руководитель: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Богатырев Владимир Анатольевич, д.т.н.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Специальность: 2.2.15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457200" y="765000"/>
            <a:ext cx="82292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90440" y="720000"/>
            <a:ext cx="8496000" cy="57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i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Актуальность</a:t>
            </a: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: рост числа БПЛА требует надежного обнаружения, а 6G-ISAC позволяет использовать телеком-инфраструктуру как сенсорную среду.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i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Проблематика</a:t>
            </a: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: в 6G-ISAC недостаточно проработана проверяемая связь между физическими показателями обнаружения, решениями распределения ресурсов и сервисными SLA-исходами.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i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Цель</a:t>
            </a: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: разработать модели и методы интегрированного зондирования пространства в 6G-сетях для обнаружения малоразмерных летательных аппаратов.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i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Задачи</a:t>
            </a: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1. Разработать формально-верификационную модель 6G-ISAC сети.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2. Разработать системную и радиофизическую модели ISAC-сценария.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3. Сравнить методы beam management и выбрать антенную систему.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4. Разработать цифровой полигон и имитационные модели для валидации.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457200" y="765000"/>
            <a:ext cx="82292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Предполагаемые результаты исследования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"/>
          <p:cNvPicPr/>
          <p:nvPr/>
        </p:nvPicPr>
        <p:blipFill>
          <a:blip r:embed="rId1"/>
          <a:stretch/>
        </p:blipFill>
        <p:spPr>
          <a:xfrm>
            <a:off x="244440" y="1536840"/>
            <a:ext cx="8575200" cy="461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Rectangle 33"/>
          <p:cNvSpPr/>
          <p:nvPr/>
        </p:nvSpPr>
        <p:spPr>
          <a:xfrm>
            <a:off x="244440" y="1536840"/>
            <a:ext cx="8575200" cy="461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34"/>
          <p:cNvSpPr/>
          <p:nvPr/>
        </p:nvSpPr>
        <p:spPr>
          <a:xfrm>
            <a:off x="324000" y="2637000"/>
            <a:ext cx="8495640" cy="34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1.  Формально-верификационная модель 6G-ISAC сети для сервиса обнаружения малоразмерных БПЛА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2.  Системная модель интегрированного зондирования с БС, зондирующим БПЛА и БПЛА-целью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3.  Модели каналов «воздух-земля», «воздух-воздух» и эхо-сигналов в рамках ISAC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4.  Анализ методов управления луча и выбор антенной системы для зондирующего БПЛА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5.  Цифровой полигон и имитационные модели для валидации предложенных методов в сценариях 6G-ISAC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457200" y="765000"/>
            <a:ext cx="82292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Оглавление диссертации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244440" y="1603440"/>
            <a:ext cx="8575200" cy="193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Rectangle 35"/>
          <p:cNvSpPr/>
          <p:nvPr/>
        </p:nvSpPr>
        <p:spPr>
          <a:xfrm>
            <a:off x="244440" y="1603440"/>
            <a:ext cx="8575200" cy="193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36"/>
          <p:cNvSpPr/>
          <p:nvPr/>
        </p:nvSpPr>
        <p:spPr>
          <a:xfrm>
            <a:off x="324000" y="1644480"/>
            <a:ext cx="8495640" cy="47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Планируемые главы (разделы глав):</a:t>
            </a:r>
            <a:br>
              <a:rPr sz="2200"/>
            </a:b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Введение;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Глава 1. Литературный обзор и анализ существующих подходов к ISAC, обнаружению БПЛА и формальной верификации;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Глава 2. Теоретическая модель 6G-ISAC сети и формализация уровней системы;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Глава 3. Модели каналов, эхо-сигналов и метрик обнаружения;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Глава 4. Beam management и антенные решения для зондирующего БПЛА;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Глава 5. Цифровой полигон и имитационная валидация 6G-ISAC сценариев;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Из них подготовлено: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Введение, Глава 1 и глава 2;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457200" y="765000"/>
            <a:ext cx="8229240" cy="12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29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Выполнение плана научных-исследовательских работ за 1-й год обучения 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" name=""/>
          <p:cNvGraphicFramePr/>
          <p:nvPr/>
        </p:nvGraphicFramePr>
        <p:xfrm>
          <a:off x="539640" y="2349360"/>
          <a:ext cx="8147880" cy="768600"/>
        </p:xfrm>
        <a:graphic>
          <a:graphicData uri="http://schemas.openxmlformats.org/drawingml/2006/table">
            <a:tbl>
              <a:tblPr/>
              <a:tblGrid>
                <a:gridCol w="2716560"/>
                <a:gridCol w="2715120"/>
                <a:gridCol w="2716560"/>
              </a:tblGrid>
              <a:tr h="371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Поставленная задача</a:t>
                      </a:r>
                      <a:endParaRPr lang="ru-RU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0230A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Полученный результат</a:t>
                      </a:r>
                      <a:endParaRPr lang="ru-RU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0230A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2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Апробация результата</a:t>
                      </a:r>
                      <a:endParaRPr lang="ru-RU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0230AC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FFFFFF"/>
                      </a:solidFill>
                      <a:prstDash val="solid"/>
                    </a:lnB>
                    <a:solidFill>
                      <a:srgbClr val="CBCD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FFFFFF"/>
                      </a:solidFill>
                      <a:prstDash val="solid"/>
                    </a:lnB>
                    <a:solidFill>
                      <a:srgbClr val="CBCDE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FFFFFF"/>
                      </a:solidFill>
                      <a:prstDash val="solid"/>
                    </a:lnB>
                    <a:solidFill>
                      <a:srgbClr val="CBCDE3"/>
                    </a:solidFill>
                  </a:tcPr>
                </a:tc>
              </a:tr>
            </a:tbl>
          </a:graphicData>
        </a:graphic>
      </p:graphicFrame>
      <p:sp>
        <p:nvSpPr>
          <p:cNvPr id="46" name="Rectangle 37"/>
          <p:cNvSpPr/>
          <p:nvPr/>
        </p:nvSpPr>
        <p:spPr>
          <a:xfrm>
            <a:off x="539640" y="2716920"/>
            <a:ext cx="2715840" cy="771120"/>
          </a:xfrm>
          <a:prstGeom prst="rect">
            <a:avLst/>
          </a:prstGeom>
          <a:solidFill>
            <a:srgbClr val="CDC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" name="Rectangle 39"/>
          <p:cNvSpPr/>
          <p:nvPr/>
        </p:nvSpPr>
        <p:spPr>
          <a:xfrm>
            <a:off x="3255840" y="2716920"/>
            <a:ext cx="2715840" cy="1243080"/>
          </a:xfrm>
          <a:prstGeom prst="rect">
            <a:avLst/>
          </a:prstGeom>
          <a:solidFill>
            <a:srgbClr val="CDC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40"/>
          <p:cNvSpPr/>
          <p:nvPr/>
        </p:nvSpPr>
        <p:spPr>
          <a:xfrm>
            <a:off x="3404160" y="2775240"/>
            <a:ext cx="25358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Формализована четырехуровневая модель; проверяются отсутствие тупиков, ограниченное время реакции, безопасность очередей и корректность восстановления.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41"/>
          <p:cNvSpPr/>
          <p:nvPr/>
        </p:nvSpPr>
        <p:spPr>
          <a:xfrm>
            <a:off x="5971680" y="2716920"/>
            <a:ext cx="2715840" cy="1243080"/>
          </a:xfrm>
          <a:prstGeom prst="rect">
            <a:avLst/>
          </a:prstGeom>
          <a:solidFill>
            <a:srgbClr val="CDC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42"/>
          <p:cNvSpPr/>
          <p:nvPr/>
        </p:nvSpPr>
        <p:spPr>
          <a:xfrm>
            <a:off x="6061680" y="2766600"/>
            <a:ext cx="2535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Конференция MoNeTec 2026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1"/>
          <p:cNvSpPr/>
          <p:nvPr/>
        </p:nvSpPr>
        <p:spPr>
          <a:xfrm>
            <a:off x="540000" y="2700000"/>
            <a:ext cx="2715840" cy="1260000"/>
          </a:xfrm>
          <a:prstGeom prst="rect">
            <a:avLst/>
          </a:prstGeom>
          <a:solidFill>
            <a:srgbClr val="CDC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38"/>
          <p:cNvSpPr/>
          <p:nvPr/>
        </p:nvSpPr>
        <p:spPr>
          <a:xfrm>
            <a:off x="704160" y="2849040"/>
            <a:ext cx="2535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Формальная модель 6G-ISAC сети для оркестрации ресурсов и отказоустойчивости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324000" y="836640"/>
            <a:ext cx="843912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80000"/>
              </a:lnSpc>
              <a:spcBef>
                <a:spcPts val="751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3000" b="1" u="none" strike="noStrike">
                <a:solidFill>
                  <a:srgbClr val="0230AC"/>
                </a:solidFill>
                <a:effectLst/>
                <a:uFillTx/>
                <a:latin typeface="Calibri"/>
              </a:rPr>
              <a:t>Показатели выполнения индивидуального плана аспиранта на конец прошедшего семестра*</a:t>
            </a:r>
            <a:endParaRPr lang="ru-RU" sz="30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03320" y="6105600"/>
            <a:ext cx="893736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endParaRPr lang="ru-RU" sz="18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" name=""/>
          <p:cNvGraphicFramePr/>
          <p:nvPr/>
        </p:nvGraphicFramePr>
        <p:xfrm>
          <a:off x="103320" y="1774800"/>
          <a:ext cx="8938800" cy="3300120"/>
        </p:xfrm>
        <a:graphic>
          <a:graphicData uri="http://schemas.openxmlformats.org/drawingml/2006/table">
            <a:tbl>
              <a:tblPr/>
              <a:tblGrid>
                <a:gridCol w="992160"/>
                <a:gridCol w="1316160"/>
                <a:gridCol w="604800"/>
                <a:gridCol w="724320"/>
                <a:gridCol w="2200680"/>
                <a:gridCol w="1584720"/>
                <a:gridCol w="1515960"/>
              </a:tblGrid>
              <a:tr h="424800">
                <a:tc row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230AC"/>
                          </a:solidFill>
                          <a:effectLst/>
                          <a:uFillTx/>
                          <a:latin typeface="Calibri"/>
                        </a:rPr>
                        <a:t>Оценка*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230AC"/>
                          </a:solidFill>
                          <a:effectLst/>
                          <a:uFillTx/>
                          <a:latin typeface="Calibri"/>
                        </a:rPr>
                        <a:t>Число публикаций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230AC"/>
                          </a:solidFill>
                          <a:effectLst/>
                          <a:uFillTx/>
                          <a:latin typeface="Calibri"/>
                        </a:rPr>
                        <a:t>Участие и победы в грантах, конкурсах, премиях, именных стипендиях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230AC"/>
                          </a:solidFill>
                          <a:effectLst/>
                          <a:uFillTx/>
                          <a:latin typeface="Calibri"/>
                        </a:rPr>
                        <a:t>Число апробаций на научных конференциях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230AC"/>
                          </a:solidFill>
                          <a:effectLst/>
                          <a:uFillTx/>
                          <a:latin typeface="Calibri"/>
                        </a:rPr>
                        <a:t>Участие в НИОКТР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922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Scopus, Web of Science (из них Q1)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ВАК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РИНЦ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0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удовл.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не оц.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79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хор.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не оц.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не оц.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5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отл.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не оц.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не оц.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7400">
                <a:tc gridSpan="7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Личные показатели</a:t>
                      </a:r>
                      <a:endParaRPr lang="ru-RU" sz="1600" b="0" u="none" strike="noStrike">
                        <a:solidFill>
                          <a:srgbClr val="0230AC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715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81D41A"/>
                          </a:solidFill>
                          <a:effectLst/>
                          <a:uFillTx/>
                          <a:latin typeface="Calibri"/>
                        </a:rPr>
                        <a:t>Отл.</a:t>
                      </a:r>
                      <a:endParaRPr lang="ru-RU" sz="1600" b="0" u="none" strike="noStrike">
                        <a:solidFill>
                          <a:srgbClr val="81D41A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81D4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600" b="0" u="none" strike="noStrike">
                        <a:solidFill>
                          <a:srgbClr val="81D41A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81D4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81D41A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81D4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81D41A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81D41A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lang="ru-RU" sz="1600" b="0" u="none" strike="noStrike">
                        <a:solidFill>
                          <a:srgbClr val="81D41A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800" b="0" u="none" strike="noStrike">
                          <a:solidFill>
                            <a:srgbClr val="81D41A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ru-RU" sz="1800" b="0" u="none" strike="noStrike">
                        <a:solidFill>
                          <a:srgbClr val="81D41A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2000"/>
                        </a:lnSpc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601200" algn="l"/>
                          <a:tab pos="10058400" algn="l"/>
                          <a:tab pos="10515600" algn="l"/>
                        </a:tabLst>
                      </a:pPr>
                      <a:r>
                        <a:rPr lang="ru-RU" sz="1600" b="0" u="none" strike="noStrike">
                          <a:solidFill>
                            <a:srgbClr val="81D41A"/>
                          </a:solidFill>
                          <a:effectLst/>
                          <a:uFillTx/>
                          <a:latin typeface="Calibri"/>
                        </a:rPr>
                        <a:t>Не оц.</a:t>
                      </a:r>
                      <a:endParaRPr lang="ru-RU" sz="1600" b="0" u="none" strike="noStrike">
                        <a:solidFill>
                          <a:srgbClr val="81D41A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720">
                      <a:solidFill>
                        <a:srgbClr val="000000"/>
                      </a:solidFill>
                      <a:prstDash val="solid"/>
                    </a:lnL>
                    <a:lnR w="720">
                      <a:solidFill>
                        <a:srgbClr val="000000"/>
                      </a:solidFill>
                      <a:prstDash val="solid"/>
                    </a:lnR>
                    <a:lnT w="720">
                      <a:solidFill>
                        <a:srgbClr val="000000"/>
                      </a:solidFill>
                      <a:prstDash val="solid"/>
                    </a:lnT>
                    <a:lnB w="72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"/>
          <p:cNvSpPr/>
          <p:nvPr/>
        </p:nvSpPr>
        <p:spPr>
          <a:xfrm>
            <a:off x="103320" y="5180040"/>
            <a:ext cx="8937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Готовность диссертации: </a:t>
            </a:r>
            <a:r>
              <a:rPr lang="ru-RU" sz="1400" b="1" u="none" strike="noStrike">
                <a:solidFill>
                  <a:srgbClr val="81D41A"/>
                </a:solidFill>
                <a:effectLst/>
                <a:uFillTx/>
                <a:latin typeface="Calibri"/>
              </a:rPr>
              <a:t>25 %</a:t>
            </a: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(удовл. - 10%, хор. - 15%, отл. - 25%)</a:t>
            </a:r>
            <a:endParaRPr lang="ru-RU" sz="1400" b="0" u="none" strike="noStrike">
              <a:solidFill>
                <a:srgbClr val="0230AC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457200" y="765000"/>
            <a:ext cx="82292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3200" b="1" u="none" strike="noStrike">
                <a:solidFill>
                  <a:srgbClr val="0230AC"/>
                </a:solidFill>
                <a:effectLst/>
                <a:uFillTx/>
                <a:latin typeface="Calibri"/>
                <a:ea typeface="DejaVu Sans"/>
              </a:rPr>
              <a:t>Дополнительные материалы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1"/>
          <a:stretch/>
        </p:blipFill>
        <p:spPr>
          <a:xfrm>
            <a:off x="353880" y="1547640"/>
            <a:ext cx="8570520" cy="395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Rectangle 45"/>
          <p:cNvSpPr/>
          <p:nvPr/>
        </p:nvSpPr>
        <p:spPr>
          <a:xfrm>
            <a:off x="353880" y="1547640"/>
            <a:ext cx="8570520" cy="395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46"/>
          <p:cNvSpPr/>
          <p:nvPr/>
        </p:nvSpPr>
        <p:spPr>
          <a:xfrm>
            <a:off x="500040" y="1550160"/>
            <a:ext cx="819972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Список опубликованных статей по теме диссертации за весь период обучения с указанием места индексирования: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Mustafin A.R., Tinishov V.S. A Hierarchical Timed-Automata Evaluation Model for Resource Orchestration and Resilience in SDN-Enabled Computation-Centric 6G ISAC Networks // The International Science and Technology Conference «Modern Network Technologies, MoNeTec» - 2026, pp. 15. </a:t>
            </a:r>
            <a:r>
              <a:rPr lang="ru-RU" sz="1600" b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Springer</a:t>
            </a:r>
            <a:r>
              <a:rPr lang="ru-RU" sz="16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; </a:t>
            </a:r>
            <a:r>
              <a:rPr lang="ru-RU" sz="1600" b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Scopus</a:t>
            </a:r>
            <a:r>
              <a:rPr lang="ru-RU" sz="16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. </a:t>
            </a:r>
            <a:r>
              <a:rPr lang="ru-RU" sz="1600" b="1" i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На данный момент статья не опубликована в журнале.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endParaRPr lang="ru-R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Участие в конференциях (доклады) за весь период обучения: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MoNeTec 2026 - </a:t>
            </a:r>
            <a:r>
              <a:rPr lang="ru-RU" sz="1600" b="1" i="1" u="none" strike="noStrike">
                <a:solidFill>
                  <a:srgbClr val="0033A0"/>
                </a:solidFill>
                <a:effectLst/>
                <a:uFillTx/>
                <a:latin typeface="Calibri"/>
              </a:rPr>
              <a:t>материал подготовлен к рассмотрению, на данный момент конференция не проведена.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30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457200" y="3378240"/>
            <a:ext cx="8229240" cy="8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Спасибо за внимание!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487760" y="247680"/>
            <a:ext cx="4655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ru-RU" sz="1800" b="0" u="none" strike="noStrike">
                <a:solidFill>
                  <a:srgbClr val="0230AC"/>
                </a:solidFill>
                <a:effectLst/>
                <a:uFillTx/>
                <a:latin typeface="Arial"/>
                <a:ea typeface="DejaVu Sans"/>
              </a:rPr>
              <a:t>Аспирантура как уровень высшего образования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2015-02-06T11:53:17Z</dcterms:created>
  <dc:creator>Вика</dc:creator>
  <dc:description/>
  <dc:language>ru-RU</dc:language>
  <cp:lastModifiedBy/>
  <dcterms:modified xsi:type="dcterms:W3CDTF">2026-06-23T09:12:39Z</dcterms:modified>
  <cp:revision>64</cp:revision>
  <dc:subject/>
  <dc:title>Аттестация аспиранта: Иванов Иван Борисович   «_________________________________________»  тема диссертации  научный руководитель: д.т.н., проф. Борисов Иван Иванович  кафедра ____________________Дата начала обучения_______________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